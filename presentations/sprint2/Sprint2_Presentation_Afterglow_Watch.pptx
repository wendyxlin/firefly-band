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nG7ap/Rr3EwEmK5/nUoSLINco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20" Type="http://customschemas.google.com/relationships/presentationmetadata" Target="metadata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0:00–0:10. One sentence: “Afterglow is a dress watch with two hidden buttons: I’m Home and SOS.” Then straight into the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0:10–0:25. Tell it as a story: phones die, signal fails in packed bars, the group splits for Ubers and restrooms. Pause on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0:25–0:40. Key pivot from 12 Sprint 1 interviews. Finding friends already exists (Totem, Lynq, mostly festival products). The unsolved part: knowing everyone got home, and asking for help without a phone. Today one 'group parent' chases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0:40–0:55. H1 and H2 come from our usability test (Firefly_User_Test). Success bar for each: at least 8 of 10 testers. Say the bar, then move on: results come on the validation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0:55–1:15. Walk the four numbers. Everything you see is in the repo: 3D model, Cycles renders, technical design and parts list. 34 mm · ~30 g · ~13 h heavy 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1:15–1:35. Point at each row. Crown: press for I'm Home, press again within 5 s to cancel. Pusher: hold 3 s for SOS, press twice in the grace window to cancel. Finding a friend and Come Find Me live in the app; the separation alert is automatic.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1:35–1:50. No wrist-sized radio reaches 6 miles directly, so the device picks the best link: ultra-wideband up close, LoRa across a venue, LTE-M cellular beyond 1 km. LTE-M and NB-IoT are built for weak signal (about 20 dB more reach than phone LTE), so they get into basements. Fallback: Amazon Sidewalk. None of it needs the wearer's phone. Privacy: only your group, key expires at the end of the night, encrypted on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1:50–2:05. Built, all live in the GitHub repo: the 3D model, photoreal Cycles renders, the installable app, the website with a working waitlist, the promo film, and a technical design + parts list (~$247 per prototype). Not yet: a hardware prototype, FCC/carrier certification, a custom PCB. Cut on purpose: accounts and logins, app-store release, maps up close: none of them test our two bets.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2:05–2:35. Click the video to play the 28-second cut (the full 68-second film is at https://wendyxlin.github.io/firefly-band/afterglow-watch/media/afterglow-promo.mp4). Say nothing over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2:35–3:15. Live: open https://wendyxlin.github.io/firefly-band/afterglow-watch/app/ on a phone (or this laptop). Flow: start the night → simulate a friend drifting away → find a friend (distance counts down) → I'm home → SOS from the watch. If the live demo fails, click the recording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3:15–3:35. Show https://wendyxlin.github.io/firefly-band/afterglow-watch/: scroll to the buttons, the app, range, design. Then the waitlist test: type a test name, submit, and show the confirmation. The recording submits 'Test - Sprint 2 demo' (intercepted, so it didn't add a row). Live, submit a test entry and show it arriving in the Firefly waitlist Google Form responses. Say the real number of sign-ups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3:35–3:48. We iterated the form factor three times with agents doing the rebuilds (3D model, renders, app, site, film each time). Biggest technical challenge: 6-mile range with no phone. A wrist radio can't do it, so we added LTE-M cellular with Sidewalk as a fallback, and re-did the battery and weight budgets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3:48–4:05. Our test is the Firefly_User_Test page: same laptop, same researcher, 10 testers, no hints. Consent and an anonymous code (P01–P10), no names. Task 1: phone dead in a crowded club, find a hidden friend on a 7×7 floor plan using only the LED, which flashes faster as you get closer; 120 s limit, asking for a hint is recorded. Task 2: the night is over, what do you naturally do? The first button pressed is recorded. Then a short survey and one direct quote. Be upfront: it is a simulation, so it tests whether people understand the interaction, not radio range. For the watch, HOME is the crown and FIND is the app's Find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4:05–4:25. FILL IN before presenting: the numbers come from the Firefly_User_Test dashboard (Export CSV: h1WithoutHelp, h1Seconds, h1HelpUsed, h2Independent, clarity, usefulness, wouldWear, directQuote). Colour one person orange per tester who passed (replace the grey icon with the orange one from the template). Read ONE quote; all ten are in the appendix. Our bar was 8/10 for H1 and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4:25–4:37. One line per icon. 'Validated' comes from the test results; fill it in. The other two are from the build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4:37–4:53. Top three next steps. Biggest risk: Weight (~32 g as drawn vs. 29 g target) and 13 h of battery on a heavy night. Go-to-market: start with friend groups that already go out together (club teams, Greek life, roommates), price $149–199 with no monthly fee (data bundled), convert the waitlist into pre-orders. Reorder the steps if testers asked for something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4:53–5:00. Close the loop with the opening story: same night, everyone accounted for. End on the image, then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Not presented. The rubric requires 10 direct user quotes: paste them from the user-test CSV (directQuote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 Q&amp;A. Full numbers and sources: technical/TECHNICAL_DESIGN.md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L">
  <p:cSld name="TITLE_L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Google Shape;11;p17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17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7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5" name="Google Shape;1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7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7"/>
          <p:cNvSpPr txBox="1"/>
          <p:nvPr>
            <p:ph type="title"/>
          </p:nvPr>
        </p:nvSpPr>
        <p:spPr>
          <a:xfrm>
            <a:off x="685800" y="141732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  <a:defRPr b="0" i="0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Google Shape;19;p18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18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18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18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23" name="Google Shape;2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8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8"/>
          <p:cNvSpPr txBox="1"/>
          <p:nvPr>
            <p:ph type="title"/>
          </p:nvPr>
        </p:nvSpPr>
        <p:spPr>
          <a:xfrm>
            <a:off x="685800" y="868680"/>
            <a:ext cx="4206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19"/>
          <p:cNvCxnSpPr/>
          <p:nvPr/>
        </p:nvCxnSpPr>
        <p:spPr>
          <a:xfrm>
            <a:off x="283464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9"/>
          <p:cNvCxnSpPr/>
          <p:nvPr/>
        </p:nvCxnSpPr>
        <p:spPr>
          <a:xfrm>
            <a:off x="8860536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19"/>
          <p:cNvCxnSpPr/>
          <p:nvPr/>
        </p:nvCxnSpPr>
        <p:spPr>
          <a:xfrm>
            <a:off x="0" y="539496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19"/>
          <p:cNvCxnSpPr/>
          <p:nvPr/>
        </p:nvCxnSpPr>
        <p:spPr>
          <a:xfrm>
            <a:off x="0" y="482803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19"/>
          <p:cNvCxnSpPr/>
          <p:nvPr/>
        </p:nvCxnSpPr>
        <p:spPr>
          <a:xfrm>
            <a:off x="0" y="105156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2" name="Google Shape;3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14800" y="155448"/>
            <a:ext cx="9144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9"/>
          <p:cNvSpPr/>
          <p:nvPr/>
        </p:nvSpPr>
        <p:spPr>
          <a:xfrm>
            <a:off x="713232" y="1828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BTE CAPSTONE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9"/>
          <p:cNvSpPr txBox="1"/>
          <p:nvPr>
            <p:ph type="title"/>
          </p:nvPr>
        </p:nvSpPr>
        <p:spPr>
          <a:xfrm>
            <a:off x="914400" y="603504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Relationship Id="rId4" Type="http://schemas.openxmlformats.org/officeDocument/2006/relationships/image" Target="../media/image3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21.png"/><Relationship Id="rId9" Type="http://schemas.openxmlformats.org/officeDocument/2006/relationships/image" Target="../media/image31.png"/><Relationship Id="rId10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Relationship Id="rId4" Type="http://schemas.microsoft.com/office/2007/relationships/media" Target="../media/media2.mp4"/><Relationship Id="rId5" Type="http://schemas.openxmlformats.org/officeDocument/2006/relationships/video" Target="../media/media2.mp4"/><Relationship Id="rId6" Type="http://schemas.openxmlformats.org/officeDocument/2006/relationships/image" Target="../media/image4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42.jpg"/><Relationship Id="rId6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2588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Arial"/>
              </a:rPr>
              <a:t>Afterglow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48840"/>
            <a:ext cx="42976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Arial"/>
              </a:rPr>
              <a:t>A dress watch with two hidden buttons: I’m Home and 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71800"/>
            <a:ext cx="42976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F55F39"/>
                </a:solidFill>
                <a:latin typeface="Arial"/>
              </a:rPr>
              <a:t>Stay close. Go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520440"/>
            <a:ext cx="40233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520440"/>
            <a:ext cx="402336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Wendy, Ava, Yvonne, Lucas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91440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v2-hero_330x3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51560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11:47 PM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41148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Your phone is at 3%.</a:t>
            </a:r>
          </a:p>
          <a:p>
            <a:pPr algn="l"/>
            <a:r>
              <a:rPr sz="2200" b="0" i="0">
                <a:solidFill>
                  <a:srgbClr val="000000"/>
                </a:solidFill>
                <a:latin typeface="Arial"/>
              </a:rPr>
              <a:t>No signal.</a:t>
            </a:r>
          </a:p>
          <a:p>
            <a:pPr algn="l"/>
            <a:r>
              <a:rPr sz="2200" b="0" i="1">
                <a:solidFill>
                  <a:srgbClr val="F55F39"/>
                </a:solidFill>
                <a:latin typeface="Arial"/>
              </a:rPr>
              <a:t>Where did Maya go?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005840"/>
            <a:ext cx="356616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From Discovery to Building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34440"/>
            <a:ext cx="2468880" cy="2468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234440"/>
            <a:ext cx="2468880" cy="2468880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>
            <a:off x="3886200" y="2240280"/>
            <a:ext cx="1097280" cy="45720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Arial"/>
              </a:rPr>
              <a:t>DISCOVERY · 12 INTERVIEWS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One friend chases everyone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794760"/>
            <a:ext cx="35661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 i="0">
                <a:solidFill>
                  <a:srgbClr val="F55F39"/>
                </a:solidFill>
                <a:latin typeface="Arial"/>
              </a:rPr>
              <a:t>PIVOT</a:t>
            </a:r>
          </a:p>
          <a:p>
            <a:pPr algn="l"/>
            <a:r>
              <a:rPr sz="1300" b="0" i="0">
                <a:solidFill>
                  <a:srgbClr val="F55F39"/>
                </a:solidFill>
                <a:latin typeface="Arial"/>
              </a:rPr>
              <a:t>Everyone checks in themselves, even with a dead phone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Bets, Two Bars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app-friends_112x2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252728"/>
            <a:ext cx="1033271" cy="21488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Find a friend, no map?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find a hidden friend using only the buzz / light / distance, no hints, in ≤ 120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600" y="1207008"/>
            <a:ext cx="3520440" cy="22402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2-home_365x22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98448"/>
            <a:ext cx="3337560" cy="20574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800600" y="3584448"/>
            <a:ext cx="457200" cy="457200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547872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Say “I’m home” unprompted?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840480"/>
            <a:ext cx="30175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≥ 8/10 press I’m home as their first action when the night ends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Meet Afterglow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3931920" cy="3154680"/>
          </a:xfrm>
          <a:prstGeom prst="roundRect">
            <a:avLst>
              <a:gd name="adj" fmla="val 5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v2-buttons_409x3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0160"/>
            <a:ext cx="3749039" cy="29718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892040" y="1261872"/>
            <a:ext cx="384048" cy="38404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216151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Crown · 3 o’clock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149047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Press = I’m Home. Press again within 5 s = cancel.</a:t>
            </a:r>
          </a:p>
        </p:txBody>
      </p:sp>
      <p:sp>
        <p:nvSpPr>
          <p:cNvPr id="8" name="Oval 7"/>
          <p:cNvSpPr/>
          <p:nvPr/>
        </p:nvSpPr>
        <p:spPr>
          <a:xfrm>
            <a:off x="4892040" y="1993391"/>
            <a:ext cx="384048" cy="384048"/>
          </a:xfrm>
          <a:prstGeom prst="ellipse">
            <a:avLst/>
          </a:prstGeom>
          <a:solidFill>
            <a:srgbClr val="C6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94767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Pusher · 2 o’clock (red ring)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221991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Hold 3 s = SOS. Press twice in the grace window = cancel.</a:t>
            </a:r>
          </a:p>
        </p:txBody>
      </p:sp>
      <p:sp>
        <p:nvSpPr>
          <p:cNvPr id="11" name="Oval 10"/>
          <p:cNvSpPr/>
          <p:nvPr/>
        </p:nvSpPr>
        <p:spPr>
          <a:xfrm>
            <a:off x="4892040" y="2724912"/>
            <a:ext cx="384048" cy="38404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267919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Mother-of-pearl dial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95351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Lights through the markers: lavender (apart), green (home), red (SOS).</a:t>
            </a:r>
          </a:p>
        </p:txBody>
      </p:sp>
      <p:sp>
        <p:nvSpPr>
          <p:cNvPr id="14" name="Oval 13"/>
          <p:cNvSpPr/>
          <p:nvPr/>
        </p:nvSpPr>
        <p:spPr>
          <a:xfrm>
            <a:off x="4892040" y="3456432"/>
            <a:ext cx="384048" cy="38404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410712"/>
            <a:ext cx="3063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Radios under the dial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685032"/>
            <a:ext cx="30632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555555"/>
                </a:solidFill>
                <a:latin typeface="Arial"/>
              </a:rPr>
              <a:t>UWB (0–30 m) · LoRa (1 km) · LTE-M (6+ mi). Antennas in the strap.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16052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92040" y="4160520"/>
            <a:ext cx="283464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34 mm · ~30 g · ~13 h heavy night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Two Buttons, Zero Screens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37719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771900" cy="384048"/>
          </a:xfrm>
          <a:prstGeom prst="roundRect">
            <a:avLst>
              <a:gd name="adj" fmla="val 25000"/>
            </a:avLst>
          </a:prstGeom>
          <a:solidFill>
            <a:srgbClr val="2F8A5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34975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CROWN · I’M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1051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I’m Home to the circle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2F8A5F"/>
                </a:solidFill>
                <a:latin typeface="Arial"/>
              </a:rPr>
              <a:t>●●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7919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again ≤ 5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1693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6300" y="1234440"/>
            <a:ext cx="377190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686300" y="1234440"/>
            <a:ext cx="3771900" cy="384048"/>
          </a:xfrm>
          <a:prstGeom prst="roundRect">
            <a:avLst>
              <a:gd name="adj" fmla="val 25000"/>
            </a:avLst>
          </a:prstGeom>
          <a:solidFill>
            <a:srgbClr val="C62E3D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23460" y="1234440"/>
            <a:ext cx="349758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PUSHER · 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3460" y="182880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C62E3D"/>
                </a:solidFill>
                <a:latin typeface="Arial"/>
              </a:rPr>
              <a:t>▬ 3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2140" y="181051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2140" y="204825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SOS + live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3460" y="2697480"/>
            <a:ext cx="868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800" b="1" i="0">
                <a:solidFill>
                  <a:srgbClr val="C62E3D"/>
                </a:solidFill>
                <a:latin typeface="Arial"/>
              </a:rPr>
              <a:t>●●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2140" y="2679192"/>
            <a:ext cx="26746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Press twice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2140" y="2916936"/>
            <a:ext cx="26746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Cancel (5–10 s grace)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913632"/>
            <a:ext cx="7772400" cy="457200"/>
          </a:xfrm>
          <a:prstGeom prst="roundRect">
            <a:avLst>
              <a:gd name="adj" fmla="val 3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8680" y="3913632"/>
            <a:ext cx="7406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Automatic: separation alert (10–30 m radius, 1/2/5 min delay)  ·  In the app: Find friends, Come Find Me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It Reaches 6+ Miles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14630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0–30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3BADB1"/>
                </a:solidFill>
                <a:latin typeface="Arial"/>
              </a:rPr>
              <a:t>UWB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14630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Distance to the metre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011680"/>
            <a:ext cx="2148840" cy="237744"/>
          </a:xfrm>
          <a:prstGeom prst="roundRect">
            <a:avLst>
              <a:gd name="adj" fmla="val 5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30 m–1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6459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EA9F3F"/>
                </a:solidFill>
                <a:latin typeface="Arial"/>
              </a:rPr>
              <a:t>LoRa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Device to device, no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9" y="2011680"/>
            <a:ext cx="2971800" cy="237744"/>
          </a:xfrm>
          <a:prstGeom prst="roundRect">
            <a:avLst>
              <a:gd name="adj" fmla="val 50000"/>
            </a:avLst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54879" y="1325880"/>
            <a:ext cx="3017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Arial"/>
              </a:rPr>
              <a:t>1 km–6+ 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55F39"/>
                </a:solidFill>
                <a:latin typeface="Arial"/>
              </a:rPr>
              <a:t>LTE-M cellular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33172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Arial"/>
              </a:rPr>
              <a:t>Built for one bar, basements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8036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555555"/>
                </a:solidFill>
                <a:latin typeface="Arial"/>
              </a:rPr>
              <a:t>Fallback when there’s no signal at all: Amazon Sidewalk and passing phones  ·  I’m home and SOS never need your phone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rgbClr val="F1B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00000"/>
                </a:solidFill>
                <a:latin typeface="Arial"/>
              </a:rPr>
              <a:t>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Only your group sees you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3611880"/>
            <a:ext cx="457200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023359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Key expires at end of night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611880"/>
            <a:ext cx="457200" cy="457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29400" y="3611880"/>
            <a:ext cx="20116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Nothing stored on a server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Built (and Didn’t)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5120640" cy="292608"/>
          </a:xfrm>
          <a:prstGeom prst="roundRect">
            <a:avLst>
              <a:gd name="adj" fmla="val 30000"/>
            </a:avLst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937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89320" y="1188720"/>
            <a:ext cx="2468880" cy="292608"/>
          </a:xfrm>
          <a:prstGeom prst="roundRect">
            <a:avLst>
              <a:gd name="adj" fmla="val 30000"/>
            </a:avLst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26480" y="1188720"/>
            <a:ext cx="22860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NOT YET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watch-mockup_95x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36776"/>
            <a:ext cx="868680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3D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v2-hero_95x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648" y="1636776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3351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Cycles renders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52344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pp-home_47x9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8376" y="1636776"/>
            <a:ext cx="429768" cy="8686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06624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App (PWA)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5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watch-site-poster_95x9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2191" y="1636776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39896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Site + waitlist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18888" y="1600200"/>
            <a:ext cx="941832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watch-film-poster_95x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1636776"/>
            <a:ext cx="868680" cy="868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3168" y="2587752"/>
            <a:ext cx="1033271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Promo film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1645920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Hardware prototype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1152" y="164592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6656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FCC + carrier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4112" y="1645920"/>
            <a:ext cx="640080" cy="6400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2331720"/>
            <a:ext cx="9601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Custom PCB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017520"/>
            <a:ext cx="7772400" cy="132588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14400" y="3090672"/>
            <a:ext cx="740664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STACK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Claude Code (agents) · three.js · Blender Cycles · HTML/JS PWA + Web Bluetooth · Google Forms · GitHub Pages · Playwright + ffmpeg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 ON PURPOSE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000000"/>
                </a:solidFill>
                <a:latin typeface="Arial"/>
              </a:rPr>
              <a:t>Find and Come Find Me buttons (now in the app), maps up close, accounts and logins.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Film</a:t>
            </a:r>
          </a:p>
        </p:txBody>
      </p:sp>
      <p:pic>
        <p:nvPicPr>
          <p:cNvPr id="3" name="watch-film-30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17320" y="1143000"/>
            <a:ext cx="6309360" cy="354787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the App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Start the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8448" y="152704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Create the group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57400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3911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Drift +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304288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Separation alert, distance to the metre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834639"/>
            <a:ext cx="502920" cy="5029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816351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50" b="1" i="0">
                <a:solidFill>
                  <a:srgbClr val="000000"/>
                </a:solidFill>
                <a:latin typeface="Arial"/>
              </a:rPr>
              <a:t>Home + 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081527"/>
            <a:ext cx="2103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50" b="0" i="0">
                <a:solidFill>
                  <a:srgbClr val="555555"/>
                </a:solidFill>
                <a:latin typeface="Arial"/>
              </a:rPr>
              <a:t>From the watch, no phone needed</a:t>
            </a:r>
          </a:p>
        </p:txBody>
      </p:sp>
      <p:pic>
        <p:nvPicPr>
          <p:cNvPr id="12" name="Picture 11" descr="qr_6735004695112876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749808" cy="7498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3657600"/>
            <a:ext cx="210312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Try it on your phone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wendyxlin.github.io/firefly-band/afterglow-watch/app/</a:t>
            </a:r>
          </a:p>
        </p:txBody>
      </p:sp>
      <p:pic>
        <p:nvPicPr>
          <p:cNvPr id="14" name="watch-app-demo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11880" y="1188720"/>
            <a:ext cx="4846320" cy="2724912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611880" y="3950208"/>
            <a:ext cx="48463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 of the app (click to play), backup for the live demo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Live Demo: Website + Waitlist Test</a:t>
            </a:r>
          </a:p>
        </p:txBody>
      </p:sp>
      <p:pic>
        <p:nvPicPr>
          <p:cNvPr id="3" name="watch-site-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5800" y="1188720"/>
            <a:ext cx="5120640" cy="288036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685800" y="4114800"/>
            <a:ext cx="5120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Arial"/>
              </a:rPr>
              <a:t>Recording: scroll the site, then submit a test sign-up (click to play)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188720"/>
            <a:ext cx="2423160" cy="141732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200" y="1261872"/>
            <a:ext cx="219456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WAITLIST = DEMAND TEST</a:t>
            </a:r>
          </a:p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00000"/>
                </a:solidFill>
                <a:latin typeface="Arial"/>
              </a:rPr>
              <a:t>[ N ] sign-ups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Same Google Form for every version: name, email, how often they go out, what matters most</a:t>
            </a:r>
          </a:p>
        </p:txBody>
      </p:sp>
      <p:pic>
        <p:nvPicPr>
          <p:cNvPr id="7" name="Picture 6" descr="qr_41390686627977341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78892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5160" y="283464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Open the site</a:t>
            </a:r>
          </a:p>
          <a:p>
            <a:pPr algn="l"/>
            <a:r>
              <a:rPr sz="800" b="0" i="0">
                <a:solidFill>
                  <a:srgbClr val="F55F39"/>
                </a:solidFill>
                <a:latin typeface="Arial"/>
              </a:rPr>
              <a:t>wendyxlin.github.io/firefly-band/afterglow-watch/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Process: Three Designs, One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firefly-product-champagne_224x1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243584"/>
            <a:ext cx="2048256" cy="135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v1 · Bangle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watch-hero_224x1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243584"/>
            <a:ext cx="2048256" cy="1353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Arial"/>
              </a:rPr>
              <a:t>Watch · Find + Safety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23560" y="1783080"/>
            <a:ext cx="411480" cy="27432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080760" y="11887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2-hero_224x1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243584"/>
            <a:ext cx="2048256" cy="1353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269748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50" b="1" i="0">
                <a:solidFill>
                  <a:srgbClr val="F55F39"/>
                </a:solidFill>
                <a:latin typeface="Arial"/>
              </a:rPr>
              <a:t>Afterglow · Home + SOS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DECISION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Hide it in a watch. Two buttons only: crown = I’m Home, pusher = SOS. Finding moved to the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9272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29000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EA9F3F"/>
                </a:solidFill>
                <a:latin typeface="Arial"/>
              </a:rPr>
              <a:t>BIGGEST CHALLENGE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6 miles with a dead phone. Fix: LTE-M cellular + Sidewalk, new battery and weight budgets.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52744" y="3108960"/>
            <a:ext cx="2505456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62472" y="3172968"/>
            <a:ext cx="228600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CUT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Find and Come Find Me buttons (now in the app), maps up close, accounts and logins.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We Tested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5895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594360" y="1097280"/>
            <a:ext cx="292608" cy="292608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1234440" y="1371600"/>
            <a:ext cx="685800" cy="68580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4248" y="1536192"/>
            <a:ext cx="18288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947672" y="1481328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F8A5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Consent +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Anonymous P01–P10. No names, no tracking.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68193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75508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590495" y="1097280"/>
            <a:ext cx="292608" cy="292608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93999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301898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09797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5176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625596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3733495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841394" y="1325880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193999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3301898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55F39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409797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5176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625596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733495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3841394" y="1433779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3193999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301898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409797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5176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3625596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3733495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3841394" y="1541678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193999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3301898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409797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35176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3625596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733495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841394" y="1649577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193999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301898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409797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5176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625596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3733495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3841394" y="17574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3193999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3301898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3409797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35176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3625596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3733495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3841394" y="1865376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3193999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3301898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3409797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35176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3625596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3733495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3841394" y="1973275"/>
            <a:ext cx="89611" cy="89611"/>
          </a:xfrm>
          <a:prstGeom prst="roundRect">
            <a:avLst>
              <a:gd name="adj" fmla="val 20000"/>
            </a:avLst>
          </a:prstGeom>
          <a:solidFill>
            <a:srgbClr val="F1B0A7"/>
          </a:solidFill>
          <a:ln w="381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4035247" y="1481328"/>
            <a:ext cx="146304" cy="146304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70655" y="1645920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LED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7337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1 · Find a friend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7337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Phone dead in a packed club. Move with arrows; the LED flashes faster as you get closer. 120 s, hints recorded.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4492447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4678070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4751222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586630" y="1097280"/>
            <a:ext cx="292608" cy="292608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79238" y="1417320"/>
            <a:ext cx="1371600" cy="603504"/>
          </a:xfrm>
          <a:prstGeom prst="roundRect">
            <a:avLst>
              <a:gd name="adj" fmla="val 50000"/>
            </a:avLst>
          </a:prstGeom>
          <a:solidFill>
            <a:srgbClr val="E6C07A"/>
          </a:solidFill>
          <a:ln w="19050">
            <a:solidFill>
              <a:srgbClr val="B88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4952390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FIND</a:t>
            </a:r>
          </a:p>
        </p:txBody>
      </p:sp>
      <p:sp>
        <p:nvSpPr>
          <p:cNvPr id="74" name="Oval 73"/>
          <p:cNvSpPr/>
          <p:nvPr/>
        </p:nvSpPr>
        <p:spPr>
          <a:xfrm>
            <a:off x="5757062" y="1481328"/>
            <a:ext cx="475488" cy="475488"/>
          </a:xfrm>
          <a:prstGeom prst="ellipse">
            <a:avLst/>
          </a:prstGeom>
          <a:solidFill>
            <a:srgbClr val="F6D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513225"/>
                </a:solidFill>
                <a:latin typeface="Arial"/>
              </a:rPr>
              <a:t>HOME</a:t>
            </a:r>
          </a:p>
        </p:txBody>
      </p:sp>
      <p:sp>
        <p:nvSpPr>
          <p:cNvPr id="75" name="Oval 74"/>
          <p:cNvSpPr/>
          <p:nvPr/>
        </p:nvSpPr>
        <p:spPr>
          <a:xfrm>
            <a:off x="5501030" y="1655064"/>
            <a:ext cx="118872" cy="118872"/>
          </a:xfrm>
          <a:prstGeom prst="ellipse">
            <a:avLst/>
          </a:prstGeom>
          <a:solidFill>
            <a:srgbClr val="2F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769510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Task 2 · Night is over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9510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“What would you naturally do?” No prompt. The first button pressed is recorded.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6488582" y="2148840"/>
            <a:ext cx="155448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6674205" y="1188720"/>
            <a:ext cx="17830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6747357" y="1261872"/>
            <a:ext cx="1636776" cy="914400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582765" y="1097280"/>
            <a:ext cx="292608" cy="292608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11365" y="1325880"/>
            <a:ext cx="15087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Clarity  ●●●●○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Useful   ●●●●●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Wear?  Yes · Maybe · No</a:t>
            </a:r>
          </a:p>
          <a:p>
            <a:pPr algn="l"/>
            <a:r>
              <a:rPr sz="1000" b="0" i="1">
                <a:solidFill>
                  <a:srgbClr val="555555"/>
                </a:solidFill>
                <a:latin typeface="Arial"/>
              </a:rPr>
              <a:t>“…in their words”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5645" y="2240280"/>
            <a:ext cx="160020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000000"/>
                </a:solidFill>
                <a:latin typeface="Arial"/>
              </a:rPr>
              <a:t>Quick survey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65645" y="2514600"/>
            <a:ext cx="160020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Clarity 1–5 · usefulness 1–5 · would you wear it? · one direct quote · what to change.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8580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2296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55F39"/>
                </a:solidFill>
                <a:latin typeface="Arial"/>
              </a:rPr>
              <a:t>WHAT WE MEASURE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H1 · found the friend with no hint in ≤ 120 s (+ time, hint use)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000000"/>
                </a:solidFill>
                <a:latin typeface="Arial"/>
              </a:rPr>
              <a:t>H2 · first action = I’m home (+ time to first action)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3456432"/>
            <a:ext cx="379476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4800600" y="3502152"/>
            <a:ext cx="35661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3BADB1"/>
                </a:solidFill>
                <a:latin typeface="Arial"/>
              </a:rPr>
              <a:t>HONEST LIMITS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A simulation: fictional distances (not UWB), and no real check-in is sent. It tests whether the interaction is understandable, not radio range. Watch: HOME = crown, FIND = the app.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10 People Tried It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1872"/>
            <a:ext cx="228600" cy="34747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261872"/>
            <a:ext cx="228600" cy="34747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261872"/>
            <a:ext cx="228600" cy="34747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261872"/>
            <a:ext cx="228600" cy="34747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261872"/>
            <a:ext cx="228600" cy="34747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261872"/>
            <a:ext cx="228600" cy="34747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261872"/>
            <a:ext cx="228600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261872"/>
            <a:ext cx="228600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261872"/>
            <a:ext cx="228600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261872"/>
            <a:ext cx="22860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29000" y="1225295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243584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H1 · found the hidden friend, no hints, ≤ 120 s  (bar: 8/10)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39"/>
            <a:ext cx="228600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20239"/>
            <a:ext cx="228600" cy="34747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1920239"/>
            <a:ext cx="228600" cy="347472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920239"/>
            <a:ext cx="228600" cy="347472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1920239"/>
            <a:ext cx="228600" cy="347472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920239"/>
            <a:ext cx="228600" cy="347472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1920239"/>
            <a:ext cx="228600" cy="347472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1920239"/>
            <a:ext cx="228600" cy="347472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1920239"/>
            <a:ext cx="228600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1920239"/>
            <a:ext cx="228600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29000" y="1883663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1901951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H2 · pressed I’m home first, unprompted  (bar: 8/10)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78608"/>
            <a:ext cx="228600" cy="34747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578608"/>
            <a:ext cx="228600" cy="34747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152" y="2578608"/>
            <a:ext cx="228600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578608"/>
            <a:ext cx="228600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578608"/>
            <a:ext cx="228600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2578608"/>
            <a:ext cx="228600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578608"/>
            <a:ext cx="228600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2578608"/>
            <a:ext cx="228600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208" y="2578608"/>
            <a:ext cx="228600" cy="347472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84" y="2578608"/>
            <a:ext cx="228600" cy="3474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29000" y="2542032"/>
            <a:ext cx="1097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2560320"/>
            <a:ext cx="39319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would wear it on a night out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Median find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s]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3310128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697480" y="3310128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Asked for a hint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3310128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/10]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clarity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3736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06040" y="3840480"/>
            <a:ext cx="1828800" cy="47548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697480" y="3840480"/>
            <a:ext cx="109728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Arial"/>
              </a:rPr>
              <a:t>Avg usefulness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840480"/>
            <a:ext cx="731520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F55F39"/>
                </a:solidFill>
                <a:latin typeface="Arial"/>
              </a:rPr>
              <a:t>[ _ /5]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310128"/>
            <a:ext cx="3794760" cy="1024128"/>
          </a:xfrm>
          <a:prstGeom prst="roundRect">
            <a:avLst>
              <a:gd name="adj" fmla="val 6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800600" y="3383280"/>
            <a:ext cx="356616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000000"/>
                </a:solidFill>
                <a:latin typeface="Arial"/>
              </a:rPr>
              <a:t>“[Strongest tester quote]”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Arial"/>
              </a:rPr>
              <a:t>Tester, [age, how often they go out]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We Learned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325880"/>
            <a:ext cx="1097280" cy="1097280"/>
          </a:xfrm>
          <a:prstGeom prst="ellipse">
            <a:avLst/>
          </a:prstGeom>
          <a:solidFill>
            <a:srgbClr val="3BAD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6002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[from the 10 tests: which bet held up]</a:t>
            </a:r>
          </a:p>
        </p:txBody>
      </p:sp>
      <p:sp>
        <p:nvSpPr>
          <p:cNvPr id="7" name="Oval 6"/>
          <p:cNvSpPr/>
          <p:nvPr/>
        </p:nvSpPr>
        <p:spPr>
          <a:xfrm>
            <a:off x="4023360" y="1325880"/>
            <a:ext cx="1097280" cy="1097280"/>
          </a:xfrm>
          <a:prstGeom prst="ellipse">
            <a:avLst/>
          </a:prstGeom>
          <a:solidFill>
            <a:srgbClr val="EA9F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Surprised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No wrist radio reaches 6 miles, so we added LTE-M cellular, with Sidewalk as a fallback.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0" y="1325880"/>
            <a:ext cx="1097280" cy="1097280"/>
          </a:xfrm>
          <a:prstGeom prst="ellipse">
            <a:avLst/>
          </a:prstGeom>
          <a:solidFill>
            <a:srgbClr val="F55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6002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2606040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Would redo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17520"/>
            <a:ext cx="23774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rial"/>
              </a:rPr>
              <a:t>Lock the form factor before building every output: we rebuilt them three times.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What’s Next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88720"/>
            <a:ext cx="7772400" cy="2560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Dev-board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UWB + LoRa + LTE-M on two wrists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Bar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10 testers, real venue, real basement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767328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/>
              </a:rPr>
              <a:t>Shrink + certify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0599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F55F39"/>
                </a:solidFill>
                <a:latin typeface="Arial"/>
              </a:rPr>
              <a:t>Custom PCB, FCC, carrier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43984"/>
            <a:ext cx="777240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850" b="0" i="0">
                <a:solidFill>
                  <a:srgbClr val="555555"/>
                </a:solidFill>
                <a:latin typeface="Arial"/>
              </a:rPr>
              <a:t>Biggest risk: Weight (~32 g as drawn vs. 29 g target) and 13 h of battery on a heavy night.   ·   GTM: friend groups first, $149–199, no monthly fee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868680"/>
            <a:ext cx="42062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"/>
              </a:rPr>
              <a:t>2:47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0" y="1051560"/>
            <a:ext cx="4206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F55F39"/>
                </a:solidFill>
                <a:latin typeface="Arial"/>
              </a:rPr>
              <a:t>Everyone’s home.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20240"/>
            <a:ext cx="7772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10 Tester Quotes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1]”  Tester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280160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2]”  Tester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3]”  Tester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883664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1883664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4]”  Tester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5]”  Tester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2487168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2487168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6]”  Tester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7]”  Tester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3090672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46320" y="3090672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8]”  Tester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9]”  Tester 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60" y="3694176"/>
            <a:ext cx="3749039" cy="5120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46320" y="3694176"/>
            <a:ext cx="3474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“[Quote 10]”  Tester 10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Appendix: Is It Buildable?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3444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Range ≥ 6 mi, weak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123444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Feasible: LTE-M/NB-IoT (nRF9151), ~20 dB better than phone LTE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46504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Up-close distance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46504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UWB (DW3110): reliable 10–20 m in a crowd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58568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258568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258568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210 mAh round cell: ~13 h heavy night, ~45 h typical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70632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2770632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770632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~32 g as drawn; ~29 g with 32 mm case + thinner strap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82696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8D9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3282696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Open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282696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Light through the dial; marker direction outdoors only; certification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7772400" cy="4389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23774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Prototype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794760"/>
            <a:ext cx="512064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~$247 per watch on dev 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TE Capstone">
  <a:themeElements>
    <a:clrScheme name="BTE Capstone">
      <a:dk1>
        <a:srgbClr val="000000"/>
      </a:dk1>
      <a:lt1>
        <a:srgbClr val="F1EEE8"/>
      </a:lt1>
      <a:dk2>
        <a:srgbClr val="555555"/>
      </a:dk2>
      <a:lt2>
        <a:srgbClr val="FFFFFF"/>
      </a:lt2>
      <a:accent1>
        <a:srgbClr val="F55F39"/>
      </a:accent1>
      <a:accent2>
        <a:srgbClr val="EA9F3F"/>
      </a:accent2>
      <a:accent3>
        <a:srgbClr val="3BADB1"/>
      </a:accent3>
      <a:accent4>
        <a:srgbClr val="F1B0A7"/>
      </a:accent4>
      <a:accent5>
        <a:srgbClr val="F8D9CA"/>
      </a:accent5>
      <a:accent6>
        <a:srgbClr val="0097A7"/>
      </a:accent6>
      <a:hlink>
        <a:srgbClr val="F55F39"/>
      </a:hlink>
      <a:folHlink>
        <a:srgbClr val="55555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2026-10-26T15:37:47Z</dcterms:created>
  <dc:creator>PptxGenJS</dc:creator>
</cp:coreProperties>
</file>