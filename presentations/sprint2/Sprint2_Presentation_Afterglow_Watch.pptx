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nG7ap/Rr3EwEmK5/nUoSLINco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0" Type="http://customschemas.google.com/relationships/presentationmetadata" Target="metadata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0:00–0:10. One sentence: “Afterglow is a dress watch with two hidden buttons: I’m Home and SOS.” Then straight into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0:10–0:25. Tell it as a story: phones die, signal fails in packed bars, the group splits for Ubers and restrooms. Pause on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0:25–0:40. Key pivot from 12 Sprint 1 interviews. Finding friends already exists (Totem, Lynq, mostly festival products). The unsolved part: knowing everyone got home, and asking for help without a phone. Today one 'group parent' chases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0:40–0:55. H1 and H2 come from our usability test (Firefly_User_Test). Success bar for each: at least 8 of 10 testers. Say the bar, then move on: results come on the validation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0:55–1:15. Walk the four numbers. Everything you see is in the repo: 3D model, Cycles renders, technical design and parts list. 34 mm · ~30 g · ~13 h heavy 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1:15–1:35. Point at each row. Crown: press for I'm Home, press again within 5 s to cancel. Pusher: hold 3 s for SOS, press twice in the grace window to cancel. Finding a friend and Come Find Me live in the app; the separation alert is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1:35–1:50. No wrist-sized radio reaches 6 miles directly, so the device picks the best link: ultra-wideband up close, LoRa across a venue, LTE-M cellular beyond 1 km. LTE-M and NB-IoT are built for weak signal (about 20 dB more reach than phone LTE), so they get into basements. Fallback: Amazon Sidewalk. None of it needs the wearer's phone. Privacy: only your group, key expires at the end of the night, encrypted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1:50–2:05. Built, all live in the GitHub repo: the 3D model, photoreal Cycles renders, the installable app, the website with a working waitlist, the promo film, and a technical design + parts list (~$247 per prototype). Not yet: a hardware prototype, FCC/carrier certification, a custom PCB. Cut on purpose: accounts and logins, app-store release, maps up close: none of them test our two bets.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2:05–2:35. Click the video to play the 28-second cut (the full 68-second film is at https://wendyxlin.github.io/firefly-band/afterglow-watch/media/afterglow-promo.mp4). Say nothing over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2:35–3:15. Live: open https://wendyxlin.github.io/firefly-band/afterglow-watch/app/ on a phone (or this laptop). Flow: start the night → simulate a friend drifting away → find a friend (distance counts down) → I'm home → SOS from the watch. If the live demo fails, click the recording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3:15–3:40. Show https://wendyxlin.github.io/firefly-band/afterglow-watch/: scroll to the buttons, the app, range, design. Then the waitlist test: type a test name, submit, and show the confirmation. The recording submits 'Test - Sprint 2 demo' (intercepted, so it didn't add a row). Live, submit a test entry and show it arriving in the Firefly waitlist Google Form responses. Say the real number of sign-ups so far.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3:40–3:55. We iterated the form factor three times with agents doing the rebuilds (3D model, renders, app, site, film each time). Biggest technical challenge: 6-mile range with no phone. A wrist radio can't do it, so we added LTE-M cellular with Sidewalk as a fallback, and re-did the battery and weight budgets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3:55–4:20. FILL IN before presenting: the numbers come from the Firefly_User_Test dashboard (Export CSV). Colour one person orange per tester who passed (replace the grey icon with the orange one from the template). Read ONE quote; all ten are in the appendix. Our bar was 8/10 for H1 and H2.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4:20–4:35. One line per icon. 'Validated' comes from the test results; fill it in. The other two are from the 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4:35–4:52. Top three next steps. Biggest risk: Weight (~32 g as drawn vs. 29 g target) and 13 h of battery on a heavy night. Go-to-market: start with friend groups that already go out together (club teams, Greek life, roommates), price $149–199 with no monthly fee (data bundled), convert the waitlist into pre-orders. Reorder the steps if testers asked for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4:52–5:00. Close the loop with the opening story: same night, everyone accounted for. End on the image,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presented. The rubric requires 10 direct user quotes: paste them from the user-test CSV (directQuote column).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Q&amp;A. Full numbers and sources: technical/TECHNICAL_DESIGN.md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L">
  <p:cSld name="TITLE_L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7"/>
          <p:cNvCxnSpPr/>
          <p:nvPr/>
        </p:nvCxnSpPr>
        <p:spPr>
          <a:xfrm>
            <a:off x="2834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17"/>
          <p:cNvCxnSpPr/>
          <p:nvPr/>
        </p:nvCxnSpPr>
        <p:spPr>
          <a:xfrm>
            <a:off x="886053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" name="Google Shape;13;p17"/>
          <p:cNvCxnSpPr/>
          <p:nvPr/>
        </p:nvCxnSpPr>
        <p:spPr>
          <a:xfrm>
            <a:off x="0" y="539496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" name="Google Shape;14;p17"/>
          <p:cNvCxnSpPr/>
          <p:nvPr/>
        </p:nvCxnSpPr>
        <p:spPr>
          <a:xfrm>
            <a:off x="0" y="482803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reencoded.png" id="15" name="Google Shape;15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14800" y="155448"/>
            <a:ext cx="914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7"/>
          <p:cNvSpPr/>
          <p:nvPr/>
        </p:nvSpPr>
        <p:spPr>
          <a:xfrm>
            <a:off x="713232" y="182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BTE CAPSTONE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7"/>
          <p:cNvSpPr txBox="1"/>
          <p:nvPr>
            <p:ph type="title"/>
          </p:nvPr>
        </p:nvSpPr>
        <p:spPr>
          <a:xfrm>
            <a:off x="685800" y="1417320"/>
            <a:ext cx="47548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  <a:defRPr b="0" i="0" sz="4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Google Shape;19;p18"/>
          <p:cNvCxnSpPr/>
          <p:nvPr/>
        </p:nvCxnSpPr>
        <p:spPr>
          <a:xfrm>
            <a:off x="2834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" name="Google Shape;20;p18"/>
          <p:cNvCxnSpPr/>
          <p:nvPr/>
        </p:nvCxnSpPr>
        <p:spPr>
          <a:xfrm>
            <a:off x="886053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" name="Google Shape;21;p18"/>
          <p:cNvCxnSpPr/>
          <p:nvPr/>
        </p:nvCxnSpPr>
        <p:spPr>
          <a:xfrm>
            <a:off x="0" y="539496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" name="Google Shape;22;p18"/>
          <p:cNvCxnSpPr/>
          <p:nvPr/>
        </p:nvCxnSpPr>
        <p:spPr>
          <a:xfrm>
            <a:off x="0" y="482803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reencoded.png" id="23" name="Google Shape;2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14800" y="155448"/>
            <a:ext cx="914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8"/>
          <p:cNvSpPr/>
          <p:nvPr/>
        </p:nvSpPr>
        <p:spPr>
          <a:xfrm>
            <a:off x="713232" y="182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BTE CAPSTONE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8"/>
          <p:cNvSpPr txBox="1"/>
          <p:nvPr>
            <p:ph type="title"/>
          </p:nvPr>
        </p:nvSpPr>
        <p:spPr>
          <a:xfrm>
            <a:off x="685800" y="86868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chemeClr val="l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9"/>
          <p:cNvCxnSpPr/>
          <p:nvPr/>
        </p:nvCxnSpPr>
        <p:spPr>
          <a:xfrm>
            <a:off x="283464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" name="Google Shape;28;p19"/>
          <p:cNvCxnSpPr/>
          <p:nvPr/>
        </p:nvCxnSpPr>
        <p:spPr>
          <a:xfrm>
            <a:off x="8860536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" name="Google Shape;29;p19"/>
          <p:cNvCxnSpPr/>
          <p:nvPr/>
        </p:nvCxnSpPr>
        <p:spPr>
          <a:xfrm>
            <a:off x="0" y="539496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19"/>
          <p:cNvCxnSpPr/>
          <p:nvPr/>
        </p:nvCxnSpPr>
        <p:spPr>
          <a:xfrm>
            <a:off x="0" y="482803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19"/>
          <p:cNvCxnSpPr/>
          <p:nvPr/>
        </p:nvCxnSpPr>
        <p:spPr>
          <a:xfrm>
            <a:off x="0" y="105156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reencoded.png" id="32" name="Google Shape;3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14800" y="155448"/>
            <a:ext cx="914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19"/>
          <p:cNvSpPr/>
          <p:nvPr/>
        </p:nvSpPr>
        <p:spPr>
          <a:xfrm>
            <a:off x="713232" y="18288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BTE CAPSTONE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9"/>
          <p:cNvSpPr txBox="1"/>
          <p:nvPr>
            <p:ph type="title"/>
          </p:nvPr>
        </p:nvSpPr>
        <p:spPr>
          <a:xfrm>
            <a:off x="914400" y="603504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jpg"/><Relationship Id="rId4" Type="http://schemas.openxmlformats.org/officeDocument/2006/relationships/image" Target="../media/image3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4.pn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Relationship Id="rId8" Type="http://schemas.openxmlformats.org/officeDocument/2006/relationships/image" Target="../media/image21.png"/><Relationship Id="rId9" Type="http://schemas.openxmlformats.org/officeDocument/2006/relationships/image" Target="../media/image31.png"/><Relationship Id="rId10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0.pn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image" Target="../media/image4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2.jpg"/><Relationship Id="rId6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2588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5400" b="0" i="0">
                <a:solidFill>
                  <a:srgbClr val="000000"/>
                </a:solidFill>
                <a:latin typeface="Arial"/>
              </a:rPr>
              <a:t>Afterglow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148840"/>
            <a:ext cx="42976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Arial"/>
              </a:rPr>
              <a:t>A dress watch with two hidden buttons: I’m Home and 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4297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F55F39"/>
                </a:solidFill>
                <a:latin typeface="Arial"/>
              </a:rPr>
              <a:t>Stay close. Go 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520440"/>
            <a:ext cx="40233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402336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Wendy, Ava, Yvonne, Lucas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91440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v2-hero_330x3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05156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4206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"/>
              </a:rPr>
              <a:t>11:47 PM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41148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Your phone is at 3%.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No signal.</a:t>
            </a:r>
          </a:p>
          <a:p>
            <a:pPr algn="l"/>
            <a:r>
              <a:rPr sz="2200" b="0" i="1">
                <a:solidFill>
                  <a:srgbClr val="F55F39"/>
                </a:solidFill>
                <a:latin typeface="Arial"/>
              </a:rPr>
              <a:t>Where did Maya go?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005840"/>
            <a:ext cx="3566160" cy="32735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From Discovery to Building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34440"/>
            <a:ext cx="2468880" cy="24688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234440"/>
            <a:ext cx="2468880" cy="2468880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3886200" y="2240280"/>
            <a:ext cx="1097280" cy="45720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3794760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555555"/>
                </a:solidFill>
                <a:latin typeface="Arial"/>
              </a:rPr>
              <a:t>DISCOVERY · 12 INTERVIEWS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One friend chases everyone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79476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F55F39"/>
                </a:solidFill>
                <a:latin typeface="Arial"/>
              </a:rPr>
              <a:t>PIVOT</a:t>
            </a:r>
          </a:p>
          <a:p>
            <a:pPr algn="l"/>
            <a:r>
              <a:rPr sz="1300" b="0" i="0">
                <a:solidFill>
                  <a:srgbClr val="F55F39"/>
                </a:solidFill>
                <a:latin typeface="Arial"/>
              </a:rPr>
              <a:t>Everyone checks in themselves, even with a dead phone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Two Bets, Two Bars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07008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pp-friends_112x2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1252728"/>
            <a:ext cx="1033271" cy="2148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" y="3584448"/>
            <a:ext cx="457200" cy="457200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47872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Find a friend, no map?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30175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≥ 8/10 find a hidden friend using only the buzz / light / distance, no hints, in ≤ 120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207008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v2-home_365x2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298448"/>
            <a:ext cx="3337560" cy="20574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4800600" y="3584448"/>
            <a:ext cx="457200" cy="457200"/>
          </a:xfrm>
          <a:prstGeom prst="ellipse">
            <a:avLst/>
          </a:prstGeom>
          <a:solidFill>
            <a:srgbClr val="2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547872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Say “I’m home” unprompted?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3840480"/>
            <a:ext cx="30175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≥ 8/10 press I’m home as their first action when the night ends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Meet Afterglow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3931920" cy="3154680"/>
          </a:xfrm>
          <a:prstGeom prst="roundRect">
            <a:avLst>
              <a:gd name="adj" fmla="val 5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v2-buttons_409x3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80160"/>
            <a:ext cx="3749039" cy="2971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892040" y="1261872"/>
            <a:ext cx="384048" cy="384048"/>
          </a:xfrm>
          <a:prstGeom prst="ellipse">
            <a:avLst/>
          </a:prstGeom>
          <a:solidFill>
            <a:srgbClr val="2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216151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Crown · 3 o’clock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490472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Press = I’m Home. Press again within 5 s = cancel.</a:t>
            </a:r>
          </a:p>
        </p:txBody>
      </p:sp>
      <p:sp>
        <p:nvSpPr>
          <p:cNvPr id="8" name="Oval 7"/>
          <p:cNvSpPr/>
          <p:nvPr/>
        </p:nvSpPr>
        <p:spPr>
          <a:xfrm>
            <a:off x="4892040" y="1993391"/>
            <a:ext cx="384048" cy="384048"/>
          </a:xfrm>
          <a:prstGeom prst="ellipse">
            <a:avLst/>
          </a:prstGeom>
          <a:solidFill>
            <a:srgbClr val="C6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9476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Pusher · 2 o’clock (red 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21991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Hold 3 s = SOS. Press twice in the grace window = cancel.</a:t>
            </a:r>
          </a:p>
        </p:txBody>
      </p:sp>
      <p:sp>
        <p:nvSpPr>
          <p:cNvPr id="11" name="Oval 10"/>
          <p:cNvSpPr/>
          <p:nvPr/>
        </p:nvSpPr>
        <p:spPr>
          <a:xfrm>
            <a:off x="4892040" y="2724912"/>
            <a:ext cx="384048" cy="384048"/>
          </a:xfrm>
          <a:prstGeom prst="ellipse">
            <a:avLst/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67919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Mother-of-pearl dial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953512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Lights through the markers: lavender (apart), green (home), red (SOS).</a:t>
            </a:r>
          </a:p>
        </p:txBody>
      </p:sp>
      <p:sp>
        <p:nvSpPr>
          <p:cNvPr id="14" name="Oval 13"/>
          <p:cNvSpPr/>
          <p:nvPr/>
        </p:nvSpPr>
        <p:spPr>
          <a:xfrm>
            <a:off x="4892040" y="3456432"/>
            <a:ext cx="384048" cy="384048"/>
          </a:xfrm>
          <a:prstGeom prst="ellipse">
            <a:avLst/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41071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Radios under the dial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685032"/>
            <a:ext cx="30632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Arial"/>
              </a:rPr>
              <a:t>UWB (0–30 m) · LoRa (1 km) · LTE-M (6+ mi). Antennas in the strap.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4160520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92040" y="4160520"/>
            <a:ext cx="28346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mm · ~30 g · ~13 h heavy night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Two Buttons, Zero Screens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37719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3771900" cy="384048"/>
          </a:xfrm>
          <a:prstGeom prst="roundRect">
            <a:avLst>
              <a:gd name="adj" fmla="val 25000"/>
            </a:avLst>
          </a:prstGeom>
          <a:solidFill>
            <a:srgbClr val="2F8A5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34975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CROWN · I’M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2F8A5F"/>
                </a:solidFill>
                <a:latin typeface="Arial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26746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26746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I’m Home to the circle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2F8A5F"/>
                </a:solidFill>
                <a:latin typeface="Arial"/>
              </a:rPr>
              <a:t>●●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679192"/>
            <a:ext cx="26746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Press again ≤ 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16936"/>
            <a:ext cx="26746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Cancel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6300" y="1234440"/>
            <a:ext cx="37719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86300" y="1234440"/>
            <a:ext cx="3771900" cy="384048"/>
          </a:xfrm>
          <a:prstGeom prst="roundRect">
            <a:avLst>
              <a:gd name="adj" fmla="val 25000"/>
            </a:avLst>
          </a:prstGeom>
          <a:solidFill>
            <a:srgbClr val="C62E3D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23460" y="1234440"/>
            <a:ext cx="34975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PUSHER · 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3460" y="182880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C62E3D"/>
                </a:solidFill>
                <a:latin typeface="Arial"/>
              </a:rPr>
              <a:t>▬ 3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2140" y="1810512"/>
            <a:ext cx="26746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2140" y="2048256"/>
            <a:ext cx="26746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SOS + live 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460" y="2697480"/>
            <a:ext cx="868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C62E3D"/>
                </a:solidFill>
                <a:latin typeface="Arial"/>
              </a:rPr>
              <a:t>●●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2140" y="2679192"/>
            <a:ext cx="26746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Press twice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2140" y="2916936"/>
            <a:ext cx="26746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Cancel (5–10 s grace)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13632"/>
            <a:ext cx="7772400" cy="457200"/>
          </a:xfrm>
          <a:prstGeom prst="roundRect">
            <a:avLst>
              <a:gd name="adj" fmla="val 3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3913632"/>
            <a:ext cx="7406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0" i="0">
                <a:solidFill>
                  <a:srgbClr val="000000"/>
                </a:solidFill>
                <a:latin typeface="Arial"/>
              </a:rPr>
              <a:t>Automatic: separation alert (10–30 m radius, 1/2/5 min delay)  ·  In the app: Find friends, Come Find 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How It Reaches 6+ Miles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97280" y="1325880"/>
            <a:ext cx="14630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0–30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BADB1"/>
                </a:solidFill>
                <a:latin typeface="Arial"/>
              </a:rPr>
              <a:t>UWB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4630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Distance to the metre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011680"/>
            <a:ext cx="2148840" cy="237744"/>
          </a:xfrm>
          <a:prstGeom prst="roundRect">
            <a:avLst>
              <a:gd name="adj" fmla="val 50000"/>
            </a:avLst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560320" y="1325880"/>
            <a:ext cx="2194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30 m–1 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64592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A9F3F"/>
                </a:solidFill>
                <a:latin typeface="Arial"/>
              </a:rPr>
              <a:t>LoRa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31720"/>
            <a:ext cx="21945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Device to device, no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79" y="2011680"/>
            <a:ext cx="2971800" cy="237744"/>
          </a:xfrm>
          <a:prstGeom prst="roundRect">
            <a:avLst>
              <a:gd name="adj" fmla="val 50000"/>
            </a:avLst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13258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1 km–6+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1645920"/>
            <a:ext cx="30175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55F39"/>
                </a:solidFill>
                <a:latin typeface="Arial"/>
              </a:rPr>
              <a:t>LTE-M cellular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331720"/>
            <a:ext cx="30175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Built for one bar, basements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55555"/>
                </a:solidFill>
                <a:latin typeface="Arial"/>
              </a:rPr>
              <a:t>Fallback when there’s no signal at all: Amazon Sidewalk and passing phones  ·  I’m home and SOS never need your phone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611880"/>
            <a:ext cx="457200" cy="457200"/>
          </a:xfrm>
          <a:prstGeom prst="ellipse">
            <a:avLst/>
          </a:prstGeom>
          <a:solidFill>
            <a:srgbClr val="F1B0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611880"/>
            <a:ext cx="2011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Only your group sees you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1188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023359" y="3611880"/>
            <a:ext cx="2011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Key expires at end of night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11880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29400" y="3611880"/>
            <a:ext cx="20116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Nothing stored on a server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What We Built (and Didn’t)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5120640" cy="292608"/>
          </a:xfrm>
          <a:prstGeom prst="roundRect">
            <a:avLst>
              <a:gd name="adj" fmla="val 30000"/>
            </a:avLst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188720"/>
            <a:ext cx="2468880" cy="292608"/>
          </a:xfrm>
          <a:prstGeom prst="roundRect">
            <a:avLst>
              <a:gd name="adj" fmla="val 30000"/>
            </a:avLst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0" y="1188720"/>
            <a:ext cx="22860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NOT YET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watch-mockup_95x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636776"/>
            <a:ext cx="8686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3D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19072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v2-hero_95x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648" y="1636776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73351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Cycles renders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app-home_47x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8376" y="1636776"/>
            <a:ext cx="429768" cy="868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06624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App (PWA)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5615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watch-site-poster_95x9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191" y="1636776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39896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Site + waitlist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18888" y="1600200"/>
            <a:ext cx="941832" cy="9418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watch-film-poster_95x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5464" y="1636776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73168" y="2587752"/>
            <a:ext cx="10332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Promo film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164592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0" y="2331720"/>
            <a:ext cx="9601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Hardware prototype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1152" y="164592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66560" y="2331720"/>
            <a:ext cx="9601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FCC + carrier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54112" y="1645920"/>
            <a:ext cx="640080" cy="640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89520" y="2331720"/>
            <a:ext cx="9601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Arial"/>
              </a:rPr>
              <a:t>Custom PCB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017520"/>
            <a:ext cx="7772400" cy="132588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3090672"/>
            <a:ext cx="740664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STACK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00000"/>
                </a:solidFill>
                <a:latin typeface="Arial"/>
              </a:rPr>
              <a:t>Claude Code (agents) · three.js · Blender Cycles · HTML/JS PWA + Web Bluetooth · Google Forms · GitHub Pages · Playwright + ffmpeg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CUT ON PURPOSE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00000"/>
                </a:solidFill>
                <a:latin typeface="Arial"/>
              </a:rPr>
              <a:t>Find and Come Find Me buttons (now in the app), maps up close, accounts and logins.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Film</a:t>
            </a:r>
          </a:p>
        </p:txBody>
      </p:sp>
      <p:pic>
        <p:nvPicPr>
          <p:cNvPr id="3" name="watch-film-30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17320" y="1143000"/>
            <a:ext cx="6309360" cy="3547872"/>
          </a:xfrm>
          <a:prstGeom prst="rect">
            <a:avLst/>
          </a:prstGeom>
          <a:ln w="9525">
            <a:solidFill>
              <a:srgbClr val="00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Live Demo: the App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1261872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Start the night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1527048"/>
            <a:ext cx="2103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Create the group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057400"/>
            <a:ext cx="502920" cy="5029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039112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Drift + find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304288"/>
            <a:ext cx="2103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Separation alert, distance to the metre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834639"/>
            <a:ext cx="502920" cy="5029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816351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Arial"/>
              </a:rPr>
              <a:t>Home + 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081527"/>
            <a:ext cx="21031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Arial"/>
              </a:rPr>
              <a:t>From the watch, no phone needed</a:t>
            </a:r>
          </a:p>
        </p:txBody>
      </p:sp>
      <p:pic>
        <p:nvPicPr>
          <p:cNvPr id="12" name="Picture 11" descr="qr_15275750490173064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80"/>
            <a:ext cx="749808" cy="749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3657600"/>
            <a:ext cx="210312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Try it on your phone</a:t>
            </a:r>
          </a:p>
          <a:p>
            <a:pPr algn="l"/>
            <a:r>
              <a:rPr sz="800" b="0" i="0">
                <a:solidFill>
                  <a:srgbClr val="F55F39"/>
                </a:solidFill>
                <a:latin typeface="Arial"/>
              </a:rPr>
              <a:t>wendyxlin.github.io/firefly-band/afterglow-watch/app/</a:t>
            </a:r>
          </a:p>
        </p:txBody>
      </p:sp>
      <p:pic>
        <p:nvPicPr>
          <p:cNvPr id="14" name="watch-app-demo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611880" y="1188720"/>
            <a:ext cx="4846320" cy="2724912"/>
          </a:xfrm>
          <a:prstGeom prst="rect">
            <a:avLst/>
          </a:prstGeom>
          <a:ln w="9525">
            <a:solidFill>
              <a:srgbClr val="00000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611880" y="3950208"/>
            <a:ext cx="48463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Arial"/>
              </a:rPr>
              <a:t>Recording of the app (click to play), backup for the live 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Live Demo: Website + Waitlist Test</a:t>
            </a:r>
          </a:p>
        </p:txBody>
      </p:sp>
      <p:pic>
        <p:nvPicPr>
          <p:cNvPr id="3" name="watch-site-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5800" y="1188720"/>
            <a:ext cx="5120640" cy="2880360"/>
          </a:xfrm>
          <a:prstGeom prst="rect">
            <a:avLst/>
          </a:prstGeom>
          <a:ln w="9525">
            <a:solidFill>
              <a:srgbClr val="00000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85800" y="411480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Arial"/>
              </a:rPr>
              <a:t>Recording: scroll the site, then submit a test sign-up (click to play)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18872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72200" y="1261872"/>
            <a:ext cx="219456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WAITLIST = DEMAND TEST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[ N ] sign-ups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55555"/>
                </a:solidFill>
                <a:latin typeface="Arial"/>
              </a:rPr>
              <a:t>Same Google Form for every version: name, email, how often they go out, what matters most</a:t>
            </a:r>
          </a:p>
        </p:txBody>
      </p:sp>
      <p:pic>
        <p:nvPicPr>
          <p:cNvPr id="7" name="Picture 6" descr="qr_67609891532114774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788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5160" y="2834640"/>
            <a:ext cx="15087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Arial"/>
              </a:rPr>
              <a:t>Open the site</a:t>
            </a:r>
          </a:p>
          <a:p>
            <a:pPr algn="l"/>
            <a:r>
              <a:rPr sz="800" b="0" i="0">
                <a:solidFill>
                  <a:srgbClr val="F55F39"/>
                </a:solidFill>
                <a:latin typeface="Arial"/>
              </a:rPr>
              <a:t>wendyxlin.github.io/firefly-band/afterglow-watch/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Process: Three Designs, One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firefly-product-champagne_224x1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243584"/>
            <a:ext cx="2048256" cy="13533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6974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000000"/>
                </a:solidFill>
                <a:latin typeface="Arial"/>
              </a:rPr>
              <a:t>v1 · Bangle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1783080"/>
            <a:ext cx="41148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383280" y="118872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watch-hero_224x1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243584"/>
            <a:ext cx="2048256" cy="13533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26974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000000"/>
                </a:solidFill>
                <a:latin typeface="Arial"/>
              </a:rPr>
              <a:t>Watch · Find + Safety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623560" y="1783080"/>
            <a:ext cx="41148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080760" y="118872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v2-hero_224x14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243584"/>
            <a:ext cx="2048256" cy="1353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0760" y="2697480"/>
            <a:ext cx="2194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55F39"/>
                </a:solidFill>
                <a:latin typeface="Arial"/>
              </a:rPr>
              <a:t>Afterglow · Home + SOS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08960"/>
            <a:ext cx="2505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3172968"/>
            <a:ext cx="2286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BADB1"/>
                </a:solidFill>
                <a:latin typeface="Arial"/>
              </a:rPr>
              <a:t>DECISION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Hide it in a watch. Two buttons only: crown = I’m Home, pusher = SOS. Finding moved to the app.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108960"/>
            <a:ext cx="2505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429000" y="3172968"/>
            <a:ext cx="2286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EA9F3F"/>
                </a:solidFill>
                <a:latin typeface="Arial"/>
              </a:rPr>
              <a:t>BIGGEST CHALLENGE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6 miles with a dead phone. Fix: LTE-M cellular + Sidewalk, new battery and weight budgets.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52744" y="3108960"/>
            <a:ext cx="2505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62472" y="3172968"/>
            <a:ext cx="2286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F55F39"/>
                </a:solidFill>
                <a:latin typeface="Arial"/>
              </a:rPr>
              <a:t>CUT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000000"/>
                </a:solidFill>
                <a:latin typeface="Arial"/>
              </a:rPr>
              <a:t>Find and Come Find Me buttons (now in the app), maps up close, accounts and logins.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10 People Tried It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61872"/>
            <a:ext cx="228600" cy="34747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261872"/>
            <a:ext cx="228600" cy="34747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1261872"/>
            <a:ext cx="228600" cy="34747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1261872"/>
            <a:ext cx="228600" cy="34747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1261872"/>
            <a:ext cx="228600" cy="34747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261872"/>
            <a:ext cx="228600" cy="347472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1261872"/>
            <a:ext cx="228600" cy="347472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261872"/>
            <a:ext cx="228600" cy="34747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261872"/>
            <a:ext cx="228600" cy="347472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1261872"/>
            <a:ext cx="22860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29000" y="1225295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243584"/>
            <a:ext cx="39319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H1 · found the hidden friend, no hints, ≤ 120 s  (bar: 8/10)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39"/>
            <a:ext cx="228600" cy="347472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920239"/>
            <a:ext cx="228600" cy="347472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1920239"/>
            <a:ext cx="228600" cy="347472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1920239"/>
            <a:ext cx="228600" cy="347472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1920239"/>
            <a:ext cx="228600" cy="347472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920239"/>
            <a:ext cx="228600" cy="347472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1920239"/>
            <a:ext cx="228600" cy="347472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920239"/>
            <a:ext cx="228600" cy="347472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920239"/>
            <a:ext cx="228600" cy="347472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1920239"/>
            <a:ext cx="228600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29000" y="1883663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1901951"/>
            <a:ext cx="39319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H2 · pressed I’m home first, unprompted  (bar: 8/10)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78608"/>
            <a:ext cx="228600" cy="347472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578608"/>
            <a:ext cx="228600" cy="347472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2578608"/>
            <a:ext cx="228600" cy="347472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2578608"/>
            <a:ext cx="228600" cy="347472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578608"/>
            <a:ext cx="228600" cy="347472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578608"/>
            <a:ext cx="228600" cy="347472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578608"/>
            <a:ext cx="228600" cy="347472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578608"/>
            <a:ext cx="228600" cy="347472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578608"/>
            <a:ext cx="228600" cy="347472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2578608"/>
            <a:ext cx="228600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29000" y="2542032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55F39"/>
                </a:solidFill>
                <a:latin typeface="Arial"/>
              </a:rPr>
              <a:t>[ _ /10]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2560320"/>
            <a:ext cx="39319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would wear it on a night out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3310128"/>
            <a:ext cx="37947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22960" y="3346704"/>
            <a:ext cx="356616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 i="0">
                <a:solidFill>
                  <a:srgbClr val="3BADB1"/>
                </a:solidFill>
                <a:latin typeface="Arial"/>
              </a:rPr>
              <a:t>HOW WE TESTED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Arial"/>
              </a:rPr>
              <a:t>Task 1: lost in a club, phone dead. Find the friend using only the pulses.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Arial"/>
              </a:rPr>
              <a:t>Task 2: the night is over. What do you press?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Then a 3-question survey + one direct quote.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310128"/>
            <a:ext cx="3794760" cy="1024128"/>
          </a:xfrm>
          <a:prstGeom prst="roundRect">
            <a:avLst>
              <a:gd name="adj" fmla="val 6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00600" y="3383280"/>
            <a:ext cx="356616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000000"/>
                </a:solidFill>
                <a:latin typeface="Arial"/>
              </a:rPr>
              <a:t>“[Strongest tester quote]”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55555"/>
                </a:solidFill>
                <a:latin typeface="Arial"/>
              </a:rPr>
              <a:t>Tester, [age, how often they go out]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What We Learned</a:t>
            </a:r>
          </a:p>
        </p:txBody>
      </p:sp>
      <p:sp>
        <p:nvSpPr>
          <p:cNvPr id="3" name="Oval 2"/>
          <p:cNvSpPr/>
          <p:nvPr/>
        </p:nvSpPr>
        <p:spPr>
          <a:xfrm>
            <a:off x="1371600" y="1325880"/>
            <a:ext cx="1097280" cy="1097280"/>
          </a:xfrm>
          <a:prstGeom prst="ellipse">
            <a:avLst/>
          </a:prstGeom>
          <a:solidFill>
            <a:srgbClr val="3BA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6002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606040"/>
            <a:ext cx="2377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23774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Arial"/>
              </a:rPr>
              <a:t>[from the 10 tests: which bet held up]</a:t>
            </a:r>
          </a:p>
        </p:txBody>
      </p:sp>
      <p:sp>
        <p:nvSpPr>
          <p:cNvPr id="7" name="Oval 6"/>
          <p:cNvSpPr/>
          <p:nvPr/>
        </p:nvSpPr>
        <p:spPr>
          <a:xfrm>
            <a:off x="4023360" y="1325880"/>
            <a:ext cx="1097280" cy="1097280"/>
          </a:xfrm>
          <a:prstGeom prst="ellipse">
            <a:avLst/>
          </a:prstGeom>
          <a:solidFill>
            <a:srgbClr val="EA9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60020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2606040"/>
            <a:ext cx="2377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Surprised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017520"/>
            <a:ext cx="23774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Arial"/>
              </a:rPr>
              <a:t>No wrist radio reaches 6 miles, so we added LTE-M cellular, with Sidewalk as a fallback.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0" y="1325880"/>
            <a:ext cx="1097280" cy="1097280"/>
          </a:xfrm>
          <a:prstGeom prst="ellipse">
            <a:avLst/>
          </a:prstGeom>
          <a:solidFill>
            <a:srgbClr val="F55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60020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2606040"/>
            <a:ext cx="2377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Would redo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17520"/>
            <a:ext cx="23774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Arial"/>
              </a:rPr>
              <a:t>Lock the form factor before building every output: we rebuilt them three times.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What’s Next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88720"/>
            <a:ext cx="7772400" cy="2560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767328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Arial"/>
              </a:rPr>
              <a:t>Dev-board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0599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F55F39"/>
                </a:solidFill>
                <a:latin typeface="Arial"/>
              </a:rPr>
              <a:t>UWB + LoRa + LTE-M on two wrists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3767328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Arial"/>
              </a:rPr>
              <a:t>Bar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40599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F55F39"/>
                </a:solidFill>
                <a:latin typeface="Arial"/>
              </a:rPr>
              <a:t>10 testers, real venue, real basement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767328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Arial"/>
              </a:rPr>
              <a:t>Shrink + certify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40599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F55F39"/>
                </a:solidFill>
                <a:latin typeface="Arial"/>
              </a:rPr>
              <a:t>Custom PCB, FCC, carrier approval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43984"/>
            <a:ext cx="7772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0">
                <a:solidFill>
                  <a:srgbClr val="555555"/>
                </a:solidFill>
                <a:latin typeface="Arial"/>
              </a:rPr>
              <a:t>Biggest risk: Weight (~32 g as drawn vs. 29 g target) and 13 h of battery on a heavy night.   ·   GTM: friend groups first, $149–199, no monthly fee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4206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"/>
              </a:rPr>
              <a:t>2:47 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1051560"/>
            <a:ext cx="42062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55F39"/>
                </a:solidFill>
                <a:latin typeface="Arial"/>
              </a:rPr>
              <a:t>Everyone’s home.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7772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Appendix: 10 Tester Quotes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80160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1]”  Tester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280160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46320" y="1280160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2]”  Tester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3]”  Tester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883664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883664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4]”  Tester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5]”  Tester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2487168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0" y="2487168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6]”  Tester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90672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3090672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7]”  Tester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3090672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3090672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8]”  Tester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94176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3694176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9]”  Tester 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3694176"/>
            <a:ext cx="374903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46320" y="3694176"/>
            <a:ext cx="34747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“[Quote 10]”  Tester 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Appendix: Is It Buildable?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Range ≥ 6 mi, weak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6120" y="1234440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Feasible: LTE-M/NB-IoT (nRF9151), ~20 dB better than phone LTE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46504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Up-close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746504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UWB (DW3110): reliable 10–20 m in a crowd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58568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258568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Battery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258568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210 mAh round cell: ~13 h heavy night, ~45 h typical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70632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2770632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770632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~32 g as drawn; ~29 g with 32 mm case + thinner strap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2696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8D9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282696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Open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82696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Light through the dial; marker direction outdoors only; certification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777240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3794760"/>
            <a:ext cx="23774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Prototype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794760"/>
            <a:ext cx="512064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~$247 per watch on dev 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TE Capstone">
  <a:themeElements>
    <a:clrScheme name="BTE Capstone">
      <a:dk1>
        <a:srgbClr val="000000"/>
      </a:dk1>
      <a:lt1>
        <a:srgbClr val="F1EEE8"/>
      </a:lt1>
      <a:dk2>
        <a:srgbClr val="555555"/>
      </a:dk2>
      <a:lt2>
        <a:srgbClr val="FFFFFF"/>
      </a:lt2>
      <a:accent1>
        <a:srgbClr val="F55F39"/>
      </a:accent1>
      <a:accent2>
        <a:srgbClr val="EA9F3F"/>
      </a:accent2>
      <a:accent3>
        <a:srgbClr val="3BADB1"/>
      </a:accent3>
      <a:accent4>
        <a:srgbClr val="F1B0A7"/>
      </a:accent4>
      <a:accent5>
        <a:srgbClr val="F8D9CA"/>
      </a:accent5>
      <a:accent6>
        <a:srgbClr val="0097A7"/>
      </a:accent6>
      <a:hlink>
        <a:srgbClr val="F55F39"/>
      </a:hlink>
      <a:folHlink>
        <a:srgbClr val="5555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TE Capstone">
  <a:themeElements>
    <a:clrScheme name="BTE Capstone">
      <a:dk1>
        <a:srgbClr val="000000"/>
      </a:dk1>
      <a:lt1>
        <a:srgbClr val="F1EEE8"/>
      </a:lt1>
      <a:dk2>
        <a:srgbClr val="555555"/>
      </a:dk2>
      <a:lt2>
        <a:srgbClr val="FFFFFF"/>
      </a:lt2>
      <a:accent1>
        <a:srgbClr val="F55F39"/>
      </a:accent1>
      <a:accent2>
        <a:srgbClr val="EA9F3F"/>
      </a:accent2>
      <a:accent3>
        <a:srgbClr val="3BADB1"/>
      </a:accent3>
      <a:accent4>
        <a:srgbClr val="F1B0A7"/>
      </a:accent4>
      <a:accent5>
        <a:srgbClr val="F8D9CA"/>
      </a:accent5>
      <a:accent6>
        <a:srgbClr val="0097A7"/>
      </a:accent6>
      <a:hlink>
        <a:srgbClr val="F55F39"/>
      </a:hlink>
      <a:folHlink>
        <a:srgbClr val="5555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2026-10-26T15:37:47Z</dcterms:created>
  <dc:creator>PptxGenJS</dc:creator>
</cp:coreProperties>
</file>