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nG7ap/Rr3EwEmK5/nUoSLINco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20" Type="http://customschemas.google.com/relationships/presentationmetadata" Target="metadata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0:00–0:10. One sentence: “Firefly is a slim bracelet that finds your friends and tells them you’re home, even when your phones die.” Then straight into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0:10–0:25. Tell it as a story: phones die, signal fails in packed bars, the group splits for Ubers and restrooms. Pause on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0:25–0:40. Key pivot from 12 Sprint 1 interviews. Finding friends already exists (Totem, Lynq, mostly festival products). The unsolved part: knowing everyone got home, and asking for help without a phone. Today one 'group parent' chases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0:40–0:55. H1 and H2 come from our usability test (Firefly_User_Test). Success bar for each: at least 8 of 10 testers. Say the bar, then move on: results come on the validation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0:55–1:15. Walk the four numbers. Everything you see is in the repo: 3D model, Cycles renders, technical design and parts list. 40 mm capsule · ~15 g · ~9 h heavy 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1:15–1:35. Point at each row. Button 1: press to find friends (buzz and light pulse faster as you get closer), press twice for come find me. Button 2: I'm home. Hold both for 3 s: quiet SOS, with a grace window to cancel. The separation alert is automatic.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1:35–1:50. No wrist-sized radio reaches 6 miles directly, so the device picks the best link: ultra-wideband up close, LoRa across a venue, LTE-M cellular beyond 1 km. LTE-M and NB-IoT are built for weak signal (about 20 dB more reach than phone LTE), so they get into basements. Fallback: Amazon Sidewalk. None of it needs the wearer's phone. Privacy: only your group, key expires at the end of the night, encrypted on the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1:50–2:05. Built, all live in the GitHub repo: the 3D model, photoreal Cycles renders, the installable app, the website with a working waitlist, the promo film, and a technical design + parts list (~$247 per prototype). Not yet: a hardware prototype, FCC/carrier certification, a custom PCB. Cut on purpose: accounts and logins, app-store release, maps up close: none of them test our two bets.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2:05–2:35. Click the video to play the 28-second cut (the full 68-second film is at https://wendyxlin.github.io/firefly-band/v2-bracelet/media/firefly-v2-promo.mp4). Say nothing over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2:35–3:15. Live: open https://wendyxlin.github.io/firefly-band/v2-bracelet/app/ on a phone (or this laptop). Flow: start the night → simulate a friend drifting away → find a friend (distance counts down) → I'm home → SOS from the bracelet. If the live demo fails, click the recording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3:15–3:40. Show https://wendyxlin.github.io/firefly-band/v2-bracelet/: scroll to the buttons, the app, range, design. Then the waitlist test: type a test name, submit, and show the confirmation. The recording submits 'Test - Sprint 2 demo' (intercepted, so it didn't add a row). Live, submit a test entry and show it arriving in the Firefly waitlist Google Form responses. Say the real number of sign-ups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3:40–3:55. We iterated the form factor three times with agents doing the rebuilds (3D model, renders, app, site, film each time). Biggest technical challenge: 6-mile range with no phone. A wrist radio can't do it, so we added LTE-M cellular with Sidewalk as a fallback, and re-did the battery and weight budgets each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3:55–4:20. FILL IN before presenting: the numbers come from the Firefly_User_Test dashboard (Export CSV). Colour one person orange per tester who passed (replace the grey icon with the orange one from the template). Read ONE quote; all ten are in the appendix. Our bar was 8/10 for H1 and H2.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4:20–4:35. One line per icon. 'Validated' comes from the test results; fill it in. The other two are from the build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4:35–4:52. Top three next steps. Biggest risk: Battery: 145 mAh across capsule + clasp gives ~9 h on a heavy night. Go-to-market: start with friend groups that already go out together (club teams, Greek life, roommates), price $149–199 with no monthly fee (data bundled), convert the waitlist into pre-orders. Reorder the steps if testers asked for something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4:52–5:00. Close the loop with the opening story: same night, everyone accounted for. End on the image, then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presented. The rubric requires 10 direct user quotes: paste them from the user-test CSV (directQuote column).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Q&amp;A. Full numbers and sources: technical/TECHNICAL_DESIGN.md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">
  <p:cSld name="TITLE_L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;p17"/>
          <p:cNvCxnSpPr/>
          <p:nvPr/>
        </p:nvCxnSpPr>
        <p:spPr>
          <a:xfrm>
            <a:off x="28346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7"/>
          <p:cNvCxnSpPr/>
          <p:nvPr/>
        </p:nvCxnSpPr>
        <p:spPr>
          <a:xfrm>
            <a:off x="886053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17"/>
          <p:cNvCxnSpPr/>
          <p:nvPr/>
        </p:nvCxnSpPr>
        <p:spPr>
          <a:xfrm>
            <a:off x="0" y="53949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7"/>
          <p:cNvCxnSpPr/>
          <p:nvPr/>
        </p:nvCxnSpPr>
        <p:spPr>
          <a:xfrm>
            <a:off x="0" y="482803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5" name="Google Shape;1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14800" y="155448"/>
            <a:ext cx="914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7"/>
          <p:cNvSpPr/>
          <p:nvPr/>
        </p:nvSpPr>
        <p:spPr>
          <a:xfrm>
            <a:off x="713232" y="1828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BTE CAPSTONE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7"/>
          <p:cNvSpPr txBox="1"/>
          <p:nvPr>
            <p:ph type="title"/>
          </p:nvPr>
        </p:nvSpPr>
        <p:spPr>
          <a:xfrm>
            <a:off x="685800" y="1417320"/>
            <a:ext cx="4754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  <a:defRPr b="0" i="0" sz="4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18"/>
          <p:cNvCxnSpPr/>
          <p:nvPr/>
        </p:nvCxnSpPr>
        <p:spPr>
          <a:xfrm>
            <a:off x="28346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18"/>
          <p:cNvCxnSpPr/>
          <p:nvPr/>
        </p:nvCxnSpPr>
        <p:spPr>
          <a:xfrm>
            <a:off x="886053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18"/>
          <p:cNvCxnSpPr/>
          <p:nvPr/>
        </p:nvCxnSpPr>
        <p:spPr>
          <a:xfrm>
            <a:off x="0" y="53949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8"/>
          <p:cNvCxnSpPr/>
          <p:nvPr/>
        </p:nvCxnSpPr>
        <p:spPr>
          <a:xfrm>
            <a:off x="0" y="482803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3" name="Google Shape;2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14800" y="155448"/>
            <a:ext cx="914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8"/>
          <p:cNvSpPr/>
          <p:nvPr/>
        </p:nvSpPr>
        <p:spPr>
          <a:xfrm>
            <a:off x="713232" y="1828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BTE CAPSTONE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8"/>
          <p:cNvSpPr txBox="1"/>
          <p:nvPr>
            <p:ph type="title"/>
          </p:nvPr>
        </p:nvSpPr>
        <p:spPr>
          <a:xfrm>
            <a:off x="685800" y="86868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19"/>
          <p:cNvCxnSpPr/>
          <p:nvPr/>
        </p:nvCxnSpPr>
        <p:spPr>
          <a:xfrm>
            <a:off x="28346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19"/>
          <p:cNvCxnSpPr/>
          <p:nvPr/>
        </p:nvCxnSpPr>
        <p:spPr>
          <a:xfrm>
            <a:off x="886053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19"/>
          <p:cNvCxnSpPr/>
          <p:nvPr/>
        </p:nvCxnSpPr>
        <p:spPr>
          <a:xfrm>
            <a:off x="0" y="53949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19"/>
          <p:cNvCxnSpPr/>
          <p:nvPr/>
        </p:nvCxnSpPr>
        <p:spPr>
          <a:xfrm>
            <a:off x="0" y="482803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19"/>
          <p:cNvCxnSpPr/>
          <p:nvPr/>
        </p:nvCxnSpPr>
        <p:spPr>
          <a:xfrm>
            <a:off x="0" y="105156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2" name="Google Shape;3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14800" y="155448"/>
            <a:ext cx="914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9"/>
          <p:cNvSpPr/>
          <p:nvPr/>
        </p:nvSpPr>
        <p:spPr>
          <a:xfrm>
            <a:off x="713232" y="1828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BTE CAPSTONE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9"/>
          <p:cNvSpPr txBox="1"/>
          <p:nvPr>
            <p:ph type="title"/>
          </p:nvPr>
        </p:nvSpPr>
        <p:spPr>
          <a:xfrm>
            <a:off x="914400" y="603504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Relationship Id="rId4" Type="http://schemas.openxmlformats.org/officeDocument/2006/relationships/image" Target="../media/image3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Relationship Id="rId8" Type="http://schemas.openxmlformats.org/officeDocument/2006/relationships/image" Target="../media/image21.png"/><Relationship Id="rId9" Type="http://schemas.openxmlformats.org/officeDocument/2006/relationships/image" Target="../media/image31.png"/><Relationship Id="rId10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0.png"/><Relationship Id="rId4" Type="http://schemas.microsoft.com/office/2007/relationships/media" Target="../media/media2.mp4"/><Relationship Id="rId5" Type="http://schemas.openxmlformats.org/officeDocument/2006/relationships/video" Target="../media/media2.mp4"/><Relationship Id="rId6" Type="http://schemas.openxmlformats.org/officeDocument/2006/relationships/image" Target="../media/image4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42.jpg"/><Relationship Id="rId6" Type="http://schemas.openxmlformats.org/officeDocument/2006/relationships/image" Target="../media/image4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25880"/>
            <a:ext cx="45720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5400" b="0" i="0">
                <a:solidFill>
                  <a:srgbClr val="000000"/>
                </a:solidFill>
                <a:latin typeface="Arial"/>
              </a:rPr>
              <a:t>Firefly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48840"/>
            <a:ext cx="42976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Arial"/>
              </a:rPr>
              <a:t>A slim bracelet that finds your friends and tells them you’re home, even when your phones die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4297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F55F39"/>
                </a:solidFill>
                <a:latin typeface="Arial"/>
              </a:rPr>
              <a:t>Stay connected. Go further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520440"/>
            <a:ext cx="40233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40233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Wendy, Ava, Yvonne, Lucas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914400"/>
            <a:ext cx="3291840" cy="329184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v2-hero_330x3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05156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42062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800" b="0" i="0">
                <a:solidFill>
                  <a:srgbClr val="000000"/>
                </a:solidFill>
                <a:latin typeface="Arial"/>
              </a:rPr>
              <a:t>11:47 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41148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Your phone is at 3%.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No signal.</a:t>
            </a:r>
          </a:p>
          <a:p>
            <a:pPr algn="l"/>
            <a:r>
              <a:rPr sz="2200" b="0" i="1">
                <a:solidFill>
                  <a:srgbClr val="F55F39"/>
                </a:solidFill>
                <a:latin typeface="Arial"/>
              </a:rPr>
              <a:t>Where did Maya go?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005840"/>
            <a:ext cx="3566160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From Discovery to Building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2468880" cy="24688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234440"/>
            <a:ext cx="2468880" cy="2468880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3886200" y="2240280"/>
            <a:ext cx="1097280" cy="45720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3794760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Arial"/>
              </a:rPr>
              <a:t>DISCOVERY · 12 INTERVIEWS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One friend chases everyone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794760"/>
            <a:ext cx="35661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55F39"/>
                </a:solidFill>
                <a:latin typeface="Arial"/>
              </a:rPr>
              <a:t>PIVOT</a:t>
            </a:r>
          </a:p>
          <a:p>
            <a:pPr algn="l"/>
            <a:r>
              <a:rPr sz="1300" b="0" i="0">
                <a:solidFill>
                  <a:srgbClr val="F55F39"/>
                </a:solidFill>
                <a:latin typeface="Arial"/>
              </a:rPr>
              <a:t>Everyone checks in themselves, even with a dead phone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Two Bets, Two Bars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07008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v2-find_365x2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98448"/>
            <a:ext cx="3337560" cy="20574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" y="3584448"/>
            <a:ext cx="457200" cy="45720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47872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Find a friend, no map?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30175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≥ 8/10 find a hidden friend using only the buzz / light / distance, no hints, in ≤ 120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207008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v2-home_365x2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98448"/>
            <a:ext cx="3337560" cy="20574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4800600" y="3584448"/>
            <a:ext cx="457200" cy="457200"/>
          </a:xfrm>
          <a:prstGeom prst="ellipse">
            <a:avLst/>
          </a:prstGeom>
          <a:solidFill>
            <a:srgbClr val="2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547872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Say “I’m home” unprompted?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3840480"/>
            <a:ext cx="30175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≥ 8/10 press I’m home as their first action when the night ends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Meet Firefly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3931920" cy="3154680"/>
          </a:xfrm>
          <a:prstGeom prst="roundRect">
            <a:avLst>
              <a:gd name="adj" fmla="val 5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v2-buttons_409x3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0160"/>
            <a:ext cx="3749039" cy="29718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892040" y="1261872"/>
            <a:ext cx="384048" cy="384048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216151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Button 1 · engraved dot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49047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Press = find friends. Press twice = come find me.</a:t>
            </a:r>
          </a:p>
        </p:txBody>
      </p:sp>
      <p:sp>
        <p:nvSpPr>
          <p:cNvPr id="8" name="Oval 7"/>
          <p:cNvSpPr/>
          <p:nvPr/>
        </p:nvSpPr>
        <p:spPr>
          <a:xfrm>
            <a:off x="4892040" y="1993391"/>
            <a:ext cx="384048" cy="384048"/>
          </a:xfrm>
          <a:prstGeom prst="ellipse">
            <a:avLst/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947672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The 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221991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Pink (finding), amber (come find me), green (home), red (SOS).</a:t>
            </a:r>
          </a:p>
        </p:txBody>
      </p:sp>
      <p:sp>
        <p:nvSpPr>
          <p:cNvPr id="11" name="Oval 10"/>
          <p:cNvSpPr/>
          <p:nvPr/>
        </p:nvSpPr>
        <p:spPr>
          <a:xfrm>
            <a:off x="4892040" y="2724912"/>
            <a:ext cx="384048" cy="384048"/>
          </a:xfrm>
          <a:prstGeom prst="ellipse">
            <a:avLst/>
          </a:prstGeom>
          <a:solidFill>
            <a:srgbClr val="2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679192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Button 2 · engraved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95351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Press = I’m home. Hold both 3 s = quiet SOS.</a:t>
            </a:r>
          </a:p>
        </p:txBody>
      </p:sp>
      <p:sp>
        <p:nvSpPr>
          <p:cNvPr id="14" name="Oval 13"/>
          <p:cNvSpPr/>
          <p:nvPr/>
        </p:nvSpPr>
        <p:spPr>
          <a:xfrm>
            <a:off x="4892040" y="3456432"/>
            <a:ext cx="384048" cy="384048"/>
          </a:xfrm>
          <a:prstGeom prst="ellipse">
            <a:avLst/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410712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Radios in the capsule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68503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UWB · LoRa · LTE-M. The band is the antenna; 2nd battery in the clasp.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416052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92040" y="4160520"/>
            <a:ext cx="28346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40 mm capsule · ~15 g · ~9 h heavy night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Two Buttons, Zero Screens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2438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2438400" cy="384048"/>
          </a:xfrm>
          <a:prstGeom prst="roundRect">
            <a:avLst>
              <a:gd name="adj" fmla="val 25000"/>
            </a:avLst>
          </a:prstGeom>
          <a:solidFill>
            <a:srgbClr val="F55F3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21640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BUTTON 1 · FIND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F55F39"/>
                </a:solidFill>
                <a:latin typeface="Arial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10512"/>
            <a:ext cx="1341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48256"/>
            <a:ext cx="1341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Find friends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F55F39"/>
                </a:solidFill>
                <a:latin typeface="Arial"/>
              </a:rPr>
              <a:t>●●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79192"/>
            <a:ext cx="1341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Press twice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916936"/>
            <a:ext cx="1341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Come find 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800" y="1234440"/>
            <a:ext cx="2438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352800" y="1234440"/>
            <a:ext cx="2438400" cy="384048"/>
          </a:xfrm>
          <a:prstGeom prst="roundRect">
            <a:avLst>
              <a:gd name="adj" fmla="val 25000"/>
            </a:avLst>
          </a:prstGeom>
          <a:solidFill>
            <a:srgbClr val="2F8A5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89960" y="1234440"/>
            <a:ext cx="21640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BUTTON 2 · 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9960" y="182880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2F8A5F"/>
                </a:solidFill>
                <a:latin typeface="Arial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8640" y="1810512"/>
            <a:ext cx="1341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8640" y="2048256"/>
            <a:ext cx="1341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I’m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9960" y="269748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2F8A5F"/>
                </a:solidFill>
                <a:latin typeface="Arial"/>
              </a:rPr>
              <a:t>●●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8640" y="2679192"/>
            <a:ext cx="1341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Twice ≤ 5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8640" y="2916936"/>
            <a:ext cx="1341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Cancel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19800" y="1234440"/>
            <a:ext cx="2438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019800" y="1234440"/>
            <a:ext cx="2438400" cy="384048"/>
          </a:xfrm>
          <a:prstGeom prst="roundRect">
            <a:avLst>
              <a:gd name="adj" fmla="val 25000"/>
            </a:avLst>
          </a:prstGeom>
          <a:solidFill>
            <a:srgbClr val="C62E3D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56960" y="1234440"/>
            <a:ext cx="21640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BOTH · 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6960" y="182880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C62E3D"/>
                </a:solidFill>
                <a:latin typeface="Arial"/>
              </a:rPr>
              <a:t>▬ 3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5640" y="1810512"/>
            <a:ext cx="1341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Hold both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5640" y="2048256"/>
            <a:ext cx="1341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Quiet 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6960" y="269748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C62E3D"/>
                </a:solidFill>
                <a:latin typeface="Arial"/>
              </a:rPr>
              <a:t>●●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5640" y="2679192"/>
            <a:ext cx="1341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Either, twice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5640" y="2916936"/>
            <a:ext cx="1341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Cancel in grace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913632"/>
            <a:ext cx="7772400" cy="457200"/>
          </a:xfrm>
          <a:prstGeom prst="roundRect">
            <a:avLst>
              <a:gd name="adj" fmla="val 30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68680" y="3913632"/>
            <a:ext cx="7406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Arial"/>
              </a:rPr>
              <a:t>Automatic: separation alert (10–30 m radius, 1/2/5 min delay)  ·  Colours: gold, silver, rose gold, black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How It Reaches 6+ Miles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938528"/>
            <a:ext cx="384048" cy="38404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4630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0–30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BADB1"/>
                </a:solidFill>
                <a:latin typeface="Arial"/>
              </a:rPr>
              <a:t>UWB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14630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Distance to the metre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011680"/>
            <a:ext cx="2148840" cy="237744"/>
          </a:xfrm>
          <a:prstGeom prst="roundRect">
            <a:avLst>
              <a:gd name="adj" fmla="val 50000"/>
            </a:avLst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60320" y="1325880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30 m–1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64592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A9F3F"/>
                </a:solidFill>
                <a:latin typeface="Arial"/>
              </a:rPr>
              <a:t>LoRa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331720"/>
            <a:ext cx="21945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Device to device, no 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79" y="2011680"/>
            <a:ext cx="2971800" cy="237744"/>
          </a:xfrm>
          <a:prstGeom prst="roundRect">
            <a:avLst>
              <a:gd name="adj" fmla="val 50000"/>
            </a:avLst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79" y="132588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1 km–6+ 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645920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55F39"/>
                </a:solidFill>
                <a:latin typeface="Arial"/>
              </a:rPr>
              <a:t>LTE-M cellular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331720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Built for one bar, basements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80360"/>
            <a:ext cx="7772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rial"/>
              </a:rPr>
              <a:t>Fallback when there’s no signal at all: Amazon Sidewalk and passing phones  ·  I’m home and SOS never need your phone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611880"/>
            <a:ext cx="457200" cy="457200"/>
          </a:xfrm>
          <a:prstGeom prst="ellipse">
            <a:avLst/>
          </a:prstGeom>
          <a:solidFill>
            <a:srgbClr val="F1B0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611880"/>
            <a:ext cx="2011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Only your group sees you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61188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23359" y="3611880"/>
            <a:ext cx="2011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Key expires at end of night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611880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29400" y="3611880"/>
            <a:ext cx="2011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Nothing stored on a server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 We Built (and Didn’t)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5120640" cy="292608"/>
          </a:xfrm>
          <a:prstGeom prst="roundRect">
            <a:avLst>
              <a:gd name="adj" fmla="val 30000"/>
            </a:avLst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188720"/>
            <a:ext cx="2468880" cy="292608"/>
          </a:xfrm>
          <a:prstGeom prst="roundRect">
            <a:avLst>
              <a:gd name="adj" fmla="val 30000"/>
            </a:avLst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0" y="1188720"/>
            <a:ext cx="2286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NOT YET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racelet-mockup_95x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636776"/>
            <a:ext cx="8686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3D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v2-hero_95x9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648" y="1636776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73351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Cycles renders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52344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app-group_47x9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8376" y="1636776"/>
            <a:ext cx="429768" cy="868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06624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App (PWA)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5615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bracelet-site-poster_95x9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1" y="1636776"/>
            <a:ext cx="868680" cy="868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39896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Site + waitlist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18888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bracelet-film-poster_95x9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1636776"/>
            <a:ext cx="868680" cy="868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73168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Promo film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1645920"/>
            <a:ext cx="640080" cy="640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0" y="2331720"/>
            <a:ext cx="960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Hardware prototype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1152" y="1645920"/>
            <a:ext cx="640080" cy="640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66560" y="2331720"/>
            <a:ext cx="960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FCC + carrier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4112" y="1645920"/>
            <a:ext cx="640080" cy="6400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89520" y="2331720"/>
            <a:ext cx="960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Custom PCB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017520"/>
            <a:ext cx="7772400" cy="132588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3090672"/>
            <a:ext cx="740664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STACK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Claude Code (agents) · three.js · Blender Cycles · HTML/JS PWA + Web Bluetooth · Google Forms · GitHub Pages · Playwright + ffmpeg</a:t>
            </a:r>
          </a:p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CUT ON PURPOSE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A screen, maps up close, accounts and logins, a separate SOS button.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Film</a:t>
            </a:r>
          </a:p>
        </p:txBody>
      </p:sp>
      <p:pic>
        <p:nvPicPr>
          <p:cNvPr id="3" name="bracelet-film-30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17320" y="1143000"/>
            <a:ext cx="6309360" cy="354787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Live Demo: the App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Start the 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527048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Create the group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057400"/>
            <a:ext cx="502920" cy="5029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03911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Drift + find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304288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Separation alert, distance to the metre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834639"/>
            <a:ext cx="502920" cy="5029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816351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Home + 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081527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From the bracelet, no phone needed</a:t>
            </a:r>
          </a:p>
        </p:txBody>
      </p:sp>
      <p:pic>
        <p:nvPicPr>
          <p:cNvPr id="12" name="Picture 11" descr="qr_20208255258108477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749808" cy="749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3657600"/>
            <a:ext cx="21031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Try it on your phone</a:t>
            </a:r>
          </a:p>
          <a:p>
            <a:pPr algn="l"/>
            <a:r>
              <a:rPr sz="800" b="0" i="0">
                <a:solidFill>
                  <a:srgbClr val="F55F39"/>
                </a:solidFill>
                <a:latin typeface="Arial"/>
              </a:rPr>
              <a:t>wendyxlin.github.io/firefly-band/v2-bracelet/app/</a:t>
            </a:r>
          </a:p>
        </p:txBody>
      </p:sp>
      <p:pic>
        <p:nvPicPr>
          <p:cNvPr id="14" name="bracelet-app-demo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11880" y="1188720"/>
            <a:ext cx="4846320" cy="272491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3611880" y="3950208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rial"/>
              </a:rPr>
              <a:t>Recording of the app (click to play), backup for the live demo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Live Demo: Website + Waitlist Test</a:t>
            </a:r>
          </a:p>
        </p:txBody>
      </p:sp>
      <p:pic>
        <p:nvPicPr>
          <p:cNvPr id="3" name="bracelet-site-demo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5800" y="1188720"/>
            <a:ext cx="5120640" cy="28803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85800" y="4114800"/>
            <a:ext cx="5120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rial"/>
              </a:rPr>
              <a:t>Recording: scroll the site, then submit a test sign-up (click to play)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2423160" cy="1417320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72200" y="1261872"/>
            <a:ext cx="219456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WAITLIST = DEMAND TEST</a:t>
            </a:r>
          </a:p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[ N ] sign-ups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Same Google Form for every version: name, email, how often they go out, what matters most</a:t>
            </a:r>
          </a:p>
        </p:txBody>
      </p:sp>
      <p:pic>
        <p:nvPicPr>
          <p:cNvPr id="7" name="Picture 6" descr="qr_630083279834316144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788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95160" y="2834640"/>
            <a:ext cx="15087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Open the site</a:t>
            </a:r>
          </a:p>
          <a:p>
            <a:pPr algn="l"/>
            <a:r>
              <a:rPr sz="800" b="0" i="0">
                <a:solidFill>
                  <a:srgbClr val="F55F39"/>
                </a:solidFill>
                <a:latin typeface="Arial"/>
              </a:rPr>
              <a:t>wendyxlin.github.io/firefly-band/v2-bracelet/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Process: Three Designs, One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irefly-product-champagne_224x1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243584"/>
            <a:ext cx="2048256" cy="13533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6974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Arial"/>
              </a:rPr>
              <a:t>v1 · Bangle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1783080"/>
            <a:ext cx="411480" cy="27432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v2-hero_224x14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243584"/>
            <a:ext cx="2048256" cy="1353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83280" y="26974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Arial"/>
              </a:rPr>
              <a:t>Watch direction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23560" y="1783080"/>
            <a:ext cx="411480" cy="27432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080760" y="11887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v2-hero_224x14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1243584"/>
            <a:ext cx="2048256" cy="1353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80760" y="26974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F55F39"/>
                </a:solidFill>
                <a:latin typeface="Arial"/>
              </a:rPr>
              <a:t>v2 · Bracelet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08960"/>
            <a:ext cx="2505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5528" y="3172968"/>
            <a:ext cx="228600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3BADB1"/>
                </a:solidFill>
                <a:latin typeface="Arial"/>
              </a:rPr>
              <a:t>DECISION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Back to jewelry: two buttons + one light. SOS hidden as a both-buttons hold, so no third button.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9272" y="3108960"/>
            <a:ext cx="2505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429000" y="3172968"/>
            <a:ext cx="228600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EA9F3F"/>
                </a:solidFill>
                <a:latin typeface="Arial"/>
              </a:rPr>
              <a:t>BIGGEST CHALLENGE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6 miles with a dead phone. Fix: LTE-M cellular + Sidewalk, new battery and weight budgets.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52744" y="3108960"/>
            <a:ext cx="2505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62472" y="3172968"/>
            <a:ext cx="228600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CUT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A screen, maps up close, accounts and logins, a separate SOS button.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10 People Tried It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61872"/>
            <a:ext cx="228600" cy="34747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261872"/>
            <a:ext cx="228600" cy="3474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1261872"/>
            <a:ext cx="228600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261872"/>
            <a:ext cx="228600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1261872"/>
            <a:ext cx="228600" cy="34747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261872"/>
            <a:ext cx="228600" cy="34747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1261872"/>
            <a:ext cx="228600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261872"/>
            <a:ext cx="228600" cy="34747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1261872"/>
            <a:ext cx="228600" cy="34747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1261872"/>
            <a:ext cx="228600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29000" y="1225295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5F39"/>
                </a:solidFill>
                <a:latin typeface="Arial"/>
              </a:rPr>
              <a:t>[ _ /10]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243584"/>
            <a:ext cx="3931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H1 · found the hidden friend, no hints, ≤ 120 s  (bar: 8/10)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39"/>
            <a:ext cx="228600" cy="34747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20239"/>
            <a:ext cx="228600" cy="34747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1920239"/>
            <a:ext cx="228600" cy="347472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920239"/>
            <a:ext cx="228600" cy="347472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1920239"/>
            <a:ext cx="228600" cy="347472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920239"/>
            <a:ext cx="228600" cy="347472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1920239"/>
            <a:ext cx="228600" cy="34747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920239"/>
            <a:ext cx="228600" cy="34747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1920239"/>
            <a:ext cx="228600" cy="34747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1920239"/>
            <a:ext cx="228600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429000" y="1883663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5F39"/>
                </a:solidFill>
                <a:latin typeface="Arial"/>
              </a:rPr>
              <a:t>[ _ /10]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1901951"/>
            <a:ext cx="3931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H2 · pressed I’m home first, unprompted  (bar: 8/10)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78608"/>
            <a:ext cx="228600" cy="34747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578608"/>
            <a:ext cx="228600" cy="347472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578608"/>
            <a:ext cx="228600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2578608"/>
            <a:ext cx="228600" cy="347472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578608"/>
            <a:ext cx="228600" cy="34747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578608"/>
            <a:ext cx="228600" cy="347472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2578608"/>
            <a:ext cx="228600" cy="34747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2578608"/>
            <a:ext cx="228600" cy="347472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2578608"/>
            <a:ext cx="228600" cy="347472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2578608"/>
            <a:ext cx="228600" cy="3474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429000" y="2542032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5F39"/>
                </a:solidFill>
                <a:latin typeface="Arial"/>
              </a:rPr>
              <a:t>[ _ /10]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2560320"/>
            <a:ext cx="3931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would wear it on a night out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310128"/>
            <a:ext cx="379476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22960" y="3346704"/>
            <a:ext cx="356616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3BADB1"/>
                </a:solidFill>
                <a:latin typeface="Arial"/>
              </a:rPr>
              <a:t>HOW WE TESTED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Task 1: lost in a club, phone dead. Find the friend using only the pulses.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Task 2: the night is over. What do you press?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555555"/>
                </a:solidFill>
                <a:latin typeface="Arial"/>
              </a:rPr>
              <a:t>Then a 3-question survey + one direct quote.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63440" y="3310128"/>
            <a:ext cx="3794760" cy="1024128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800600" y="3383280"/>
            <a:ext cx="356616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000000"/>
                </a:solidFill>
                <a:latin typeface="Arial"/>
              </a:rPr>
              <a:t>“[Strongest tester quote]”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Tester, [age, how often they go out]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 We Learned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1325880"/>
            <a:ext cx="1097280" cy="1097280"/>
          </a:xfrm>
          <a:prstGeom prst="ellipse">
            <a:avLst/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6002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60604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23774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rial"/>
              </a:rPr>
              <a:t>[from the 10 tests: which bet held up]</a:t>
            </a:r>
          </a:p>
        </p:txBody>
      </p:sp>
      <p:sp>
        <p:nvSpPr>
          <p:cNvPr id="7" name="Oval 6"/>
          <p:cNvSpPr/>
          <p:nvPr/>
        </p:nvSpPr>
        <p:spPr>
          <a:xfrm>
            <a:off x="4023360" y="1325880"/>
            <a:ext cx="1097280" cy="1097280"/>
          </a:xfrm>
          <a:prstGeom prst="ellipse">
            <a:avLst/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0020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83280" y="260604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Surprised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017520"/>
            <a:ext cx="23774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rial"/>
              </a:rPr>
              <a:t>No wrist radio reaches 6 miles, so we added LTE-M cellular. The battery had to split into capsule + clasp.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0" y="1325880"/>
            <a:ext cx="1097280" cy="109728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600200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260604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Would redo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017520"/>
            <a:ext cx="23774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rial"/>
              </a:rPr>
              <a:t>Lock the form factor before building every output: we rebuilt them three times.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What’s Next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77724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767328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/>
              </a:rPr>
              <a:t>Dev-board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599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F55F39"/>
                </a:solidFill>
                <a:latin typeface="Arial"/>
              </a:rPr>
              <a:t>UWB + LoRa + LTE-M on two wrists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3767328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/>
              </a:rPr>
              <a:t>Bar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40599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F55F39"/>
                </a:solidFill>
                <a:latin typeface="Arial"/>
              </a:rPr>
              <a:t>10 testers, real venue, real basement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767328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/>
              </a:rPr>
              <a:t>Shrink + certify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40599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F55F39"/>
                </a:solidFill>
                <a:latin typeface="Arial"/>
              </a:rPr>
              <a:t>Custom PCB, FCC, carrier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43984"/>
            <a:ext cx="7772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Arial"/>
              </a:rPr>
              <a:t>Biggest risk: Battery: 145 mAh across capsule + clasp gives ~9 h on a heavy night.   ·   GTM: friend groups first, $149–199, no monthly fee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42062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800" b="0" i="0">
                <a:solidFill>
                  <a:srgbClr val="000000"/>
                </a:solidFill>
                <a:latin typeface="Arial"/>
              </a:rPr>
              <a:t>2:47 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1051560"/>
            <a:ext cx="42062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F55F39"/>
                </a:solidFill>
                <a:latin typeface="Arial"/>
              </a:rPr>
              <a:t>Everyone’s home.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40"/>
            <a:ext cx="7772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Appendix: 10 Tester Quotes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1]”  Tester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280160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846320" y="1280160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2]”  Tester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83664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83664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3]”  Tester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883664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46320" y="1883664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4]”  Tester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87168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487168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5]”  Tester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487168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46320" y="2487168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6]”  Tester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90672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3090672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7]”  Tester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3090672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46320" y="3090672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8]”  Tester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94176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3694176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9]”  Tester 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3694176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846320" y="3694176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10]”  Tester 10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Appendix: Is It Buildable?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Range ≥ 6 mi, weak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234440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Feasible: LTE-M/NB-IoT (nRF9151), ~20 dB better than phone LTE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46504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Up-close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746504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UWB (DW3110): reliable 10–20 m in a crowd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58568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Battery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258568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85 mAh capsule + 60 mAh clasp: ~9 h heavy night, ~31 h typical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70632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2770632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770632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~15 g in titanium, ~22 g in gold-plated brass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3282696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Open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282696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Band as antenna needs RF tuning; UWB through ceramic underside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60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Prototype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794760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~$247 per bracelet on dev 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TE Capstone">
  <a:themeElements>
    <a:clrScheme name="BTE Capstone">
      <a:dk1>
        <a:srgbClr val="000000"/>
      </a:dk1>
      <a:lt1>
        <a:srgbClr val="F1EEE8"/>
      </a:lt1>
      <a:dk2>
        <a:srgbClr val="555555"/>
      </a:dk2>
      <a:lt2>
        <a:srgbClr val="FFFFFF"/>
      </a:lt2>
      <a:accent1>
        <a:srgbClr val="F55F39"/>
      </a:accent1>
      <a:accent2>
        <a:srgbClr val="EA9F3F"/>
      </a:accent2>
      <a:accent3>
        <a:srgbClr val="3BADB1"/>
      </a:accent3>
      <a:accent4>
        <a:srgbClr val="F1B0A7"/>
      </a:accent4>
      <a:accent5>
        <a:srgbClr val="F8D9CA"/>
      </a:accent5>
      <a:accent6>
        <a:srgbClr val="0097A7"/>
      </a:accent6>
      <a:hlink>
        <a:srgbClr val="F55F39"/>
      </a:hlink>
      <a:folHlink>
        <a:srgbClr val="5555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TE Capstone">
  <a:themeElements>
    <a:clrScheme name="BTE Capstone">
      <a:dk1>
        <a:srgbClr val="000000"/>
      </a:dk1>
      <a:lt1>
        <a:srgbClr val="F1EEE8"/>
      </a:lt1>
      <a:dk2>
        <a:srgbClr val="555555"/>
      </a:dk2>
      <a:lt2>
        <a:srgbClr val="FFFFFF"/>
      </a:lt2>
      <a:accent1>
        <a:srgbClr val="F55F39"/>
      </a:accent1>
      <a:accent2>
        <a:srgbClr val="EA9F3F"/>
      </a:accent2>
      <a:accent3>
        <a:srgbClr val="3BADB1"/>
      </a:accent3>
      <a:accent4>
        <a:srgbClr val="F1B0A7"/>
      </a:accent4>
      <a:accent5>
        <a:srgbClr val="F8D9CA"/>
      </a:accent5>
      <a:accent6>
        <a:srgbClr val="0097A7"/>
      </a:accent6>
      <a:hlink>
        <a:srgbClr val="F55F39"/>
      </a:hlink>
      <a:folHlink>
        <a:srgbClr val="5555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2026-10-26T15:37:47Z</dcterms:created>
  <dc:creator>PptxGenJS</dc:creator>
</cp:coreProperties>
</file>